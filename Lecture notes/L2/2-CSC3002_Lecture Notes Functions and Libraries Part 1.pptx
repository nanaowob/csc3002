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1" r:id="rId1"/>
    <p:sldMasterId id="2147483693" r:id="rId2"/>
    <p:sldMasterId id="2147483705" r:id="rId3"/>
    <p:sldMasterId id="2147483717" r:id="rId4"/>
    <p:sldMasterId id="2147483729" r:id="rId5"/>
    <p:sldMasterId id="2147483741" r:id="rId6"/>
  </p:sldMasterIdLst>
  <p:notesMasterIdLst>
    <p:notesMasterId r:id="rId42"/>
  </p:notesMasterIdLst>
  <p:sldIdLst>
    <p:sldId id="2007579049" r:id="rId7"/>
    <p:sldId id="481" r:id="rId8"/>
    <p:sldId id="479" r:id="rId9"/>
    <p:sldId id="510" r:id="rId10"/>
    <p:sldId id="535" r:id="rId11"/>
    <p:sldId id="486" r:id="rId12"/>
    <p:sldId id="469" r:id="rId13"/>
    <p:sldId id="521" r:id="rId14"/>
    <p:sldId id="511" r:id="rId15"/>
    <p:sldId id="487" r:id="rId16"/>
    <p:sldId id="488" r:id="rId17"/>
    <p:sldId id="489" r:id="rId18"/>
    <p:sldId id="490" r:id="rId19"/>
    <p:sldId id="491" r:id="rId20"/>
    <p:sldId id="2007579050" r:id="rId21"/>
    <p:sldId id="472" r:id="rId22"/>
    <p:sldId id="549" r:id="rId23"/>
    <p:sldId id="534" r:id="rId24"/>
    <p:sldId id="522" r:id="rId25"/>
    <p:sldId id="532" r:id="rId26"/>
    <p:sldId id="482" r:id="rId27"/>
    <p:sldId id="470" r:id="rId28"/>
    <p:sldId id="493" r:id="rId29"/>
    <p:sldId id="480" r:id="rId30"/>
    <p:sldId id="552" r:id="rId31"/>
    <p:sldId id="541" r:id="rId32"/>
    <p:sldId id="536" r:id="rId33"/>
    <p:sldId id="473" r:id="rId34"/>
    <p:sldId id="547" r:id="rId35"/>
    <p:sldId id="533" r:id="rId36"/>
    <p:sldId id="509" r:id="rId37"/>
    <p:sldId id="2007579052" r:id="rId38"/>
    <p:sldId id="2007579053" r:id="rId39"/>
    <p:sldId id="2007579051" r:id="rId40"/>
    <p:sldId id="369" r:id="rId41"/>
  </p:sldIdLst>
  <p:sldSz cx="12192000" cy="6858000"/>
  <p:notesSz cx="9144000" cy="6858000"/>
  <p:custDataLst>
    <p:tags r:id="rId4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5pPr>
    <a:lvl6pPr marL="2286000" algn="l" defTabSz="457200" rtl="0" eaLnBrk="1" latinLnBrk="0" hangingPunct="1"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6pPr>
    <a:lvl7pPr marL="2743200" algn="l" defTabSz="457200" rtl="0" eaLnBrk="1" latinLnBrk="0" hangingPunct="1"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7pPr>
    <a:lvl8pPr marL="3200400" algn="l" defTabSz="457200" rtl="0" eaLnBrk="1" latinLnBrk="0" hangingPunct="1"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8pPr>
    <a:lvl9pPr marL="3657600" algn="l" defTabSz="457200" rtl="0" eaLnBrk="1" latinLnBrk="0" hangingPunct="1">
      <a:defRPr sz="1400" b="1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CCFFCC"/>
    <a:srgbClr val="CCFFFF"/>
    <a:srgbClr val="D5FFFF"/>
    <a:srgbClr val="009900"/>
    <a:srgbClr val="66FF66"/>
    <a:srgbClr val="969696"/>
    <a:srgbClr val="FFFF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26741" autoAdjust="0"/>
    <p:restoredTop sz="86559" autoAdjust="0"/>
  </p:normalViewPr>
  <p:slideViewPr>
    <p:cSldViewPr showGuides="1">
      <p:cViewPr varScale="1">
        <p:scale>
          <a:sx n="128" d="100"/>
          <a:sy n="128" d="100"/>
        </p:scale>
        <p:origin x="1496" y="176"/>
      </p:cViewPr>
      <p:guideLst>
        <p:guide orient="horz" pos="2200"/>
        <p:guide pos="3819"/>
      </p:guideLst>
    </p:cSldViewPr>
  </p:slideViewPr>
  <p:outlineViewPr>
    <p:cViewPr>
      <p:scale>
        <a:sx n="33" d="100"/>
        <a:sy n="33" d="100"/>
      </p:scale>
      <p:origin x="0" y="-223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gs" Target="tags/tag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/>
            </a:lvl1pPr>
          </a:lstStyle>
          <a:p>
            <a:fld id="{37231C64-B976-DF4A-874D-4A45D2B4256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642A-9146-F095-5C65-86864ACB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>
            <a:extLst>
              <a:ext uri="{FF2B5EF4-FFF2-40B4-BE49-F238E27FC236}">
                <a16:creationId xmlns:a16="http://schemas.microsoft.com/office/drawing/2014/main" id="{0ED4CDD1-9E97-A05E-1E30-C696C5E63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备注占位符 2">
            <a:extLst>
              <a:ext uri="{FF2B5EF4-FFF2-40B4-BE49-F238E27FC236}">
                <a16:creationId xmlns:a16="http://schemas.microsoft.com/office/drawing/2014/main" id="{670CC7A1-AD31-9C3F-87AF-F4B0B18C5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1" lang="zh-CN" altLang="en-US" dirty="0"/>
          </a:p>
        </p:txBody>
      </p:sp>
      <p:sp>
        <p:nvSpPr>
          <p:cNvPr id="15363" name="灯片编号占位符 3">
            <a:extLst>
              <a:ext uri="{FF2B5EF4-FFF2-40B4-BE49-F238E27FC236}">
                <a16:creationId xmlns:a16="http://schemas.microsoft.com/office/drawing/2014/main" id="{370B9AB9-ED79-B39C-9E21-C836322D68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FD72F4-6D69-D844-8D2B-F9E7FC109FE0}" type="slidenum">
              <a:rPr lang="tr-TR" altLang="tr-TR" smtClean="0">
                <a:latin typeface="Calibri" panose="020F0502020204030204" pitchFamily="34" charset="0"/>
              </a:rPr>
              <a:pPr/>
              <a:t>1</a:t>
            </a:fld>
            <a:endParaRPr lang="tr-TR" altLang="tr-T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030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5A6C62C-AF94-8B42-AF39-302D6D4E3459}" type="slidenum">
              <a:rPr lang="en-US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526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3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6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7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8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9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6DF4F8-0A4C-2544-B9C2-AEE9051AD8E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795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0E1916-E944-9D4E-8671-95AF5591832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16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dirty="0"/>
              <a:t>Show</a:t>
            </a:r>
            <a:r>
              <a:rPr lang="en-US" baseline="0" dirty="0"/>
              <a:t> gcd.cpp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0F8B0-63B3-644C-9EC3-5BF6254C26F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36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817545-CE8E-3541-907C-1A419E9E55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57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5A0C1F-E47A-6145-9D3F-2A51B569865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77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16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dirty="0"/>
              <a:t>ambiguity</a:t>
            </a:r>
          </a:p>
          <a:p>
            <a:r>
              <a:rPr lang="en-US" dirty="0"/>
              <a:t>0.5 0.5, it doesn’t matter if you input 1 or 1.0, x is always 1.0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0 0</a:t>
            </a:r>
            <a:r>
              <a:rPr lang="en-US" altLang="zh-CN" dirty="0"/>
              <a:t>, it doesn’t matter if you input 1 or 1.0, x is always 1.0, y is always 1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17C41D3-A530-7942-A501-58D13A5BD95F}" type="slidenum">
              <a:rPr lang="en-US">
                <a:solidFill>
                  <a:prstClr val="black"/>
                </a:solidFill>
              </a:rPr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072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11C8B55-4269-4B40-9374-61ABB8C06670}" type="slidenum">
              <a:rPr lang="en-US"/>
              <a:t>22</a:t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A896396-923D-9B44-930E-4C276E2B819A}" type="slidenum">
              <a:rPr lang="en-US">
                <a:solidFill>
                  <a:prstClr val="black"/>
                </a:solidFill>
              </a:rPr>
              <a:t>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283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24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26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28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B90E92-5FE5-E043-84B7-942206E7BC87}" type="slidenum">
              <a:rPr lang="en-US"/>
              <a:t>29</a:t>
            </a:fld>
            <a:endParaRPr lang="en-US"/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B90E92-5FE5-E043-84B7-942206E7BC8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86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9C5D1-22D5-2E4A-89E3-1F1EFCF272F5}" type="slidenum">
              <a:rPr lang="en-US">
                <a:solidFill>
                  <a:prstClr val="black"/>
                </a:solidFill>
              </a:rPr>
              <a:t>31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37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271713" y="533400"/>
            <a:ext cx="4603750" cy="2590800"/>
          </a:xfrm>
          <a:solidFill>
            <a:srgbClr val="FFFFFF"/>
          </a:solidFill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90769C9-9875-1A45-8F0C-7D076A39265C}" type="slidenum">
              <a:rPr lang="en-US"/>
              <a:t>35</a:t>
            </a:fld>
            <a:endParaRPr lang="en-US"/>
          </a:p>
        </p:txBody>
      </p:sp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71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01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16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91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7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8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71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2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54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85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24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19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28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13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83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47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41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49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57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81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65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608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882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5939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174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914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069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50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428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5883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3537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3071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4673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046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78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38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905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2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307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318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0733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9789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8210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773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339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1760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887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4536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719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4074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7061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4365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2916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626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691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055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73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043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40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311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152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055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976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982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6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1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4B723-E449-EA45-A28A-5FA5DD77E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3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45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C9908-EAB0-4448-89F8-8CF7E8D3D3CD}" type="slidenum">
              <a:rPr lang="en-US" smtClean="0">
                <a:solidFill>
                  <a:srgbClr val="000000"/>
                </a:solidFill>
                <a:latin typeface="Times New Roman" panose="02020603050405020304" charset="0"/>
              </a:rPr>
              <a:t>‹#›</a:t>
            </a:fld>
            <a:endParaRPr lang="en-US">
              <a:solidFill>
                <a:srgbClr val="000000"/>
              </a:solidFill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0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A6F35-3142-E44F-89A7-075E1FA00FFE}" type="slidenum">
              <a:rPr lang="en-US" b="0" smtClean="0">
                <a:solidFill>
                  <a:srgbClr val="000000"/>
                </a:solidFill>
              </a:r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0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409AF-2D96-BA43-BA47-19F872AC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1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5" Type="http://schemas.openxmlformats.org/officeDocument/2006/relationships/slide" Target="slide23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68A64-958D-70ED-0FD2-FD21801C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98DD484-C3AF-E6DA-7110-DC202F7D9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tr-TR" sz="4800" b="1" dirty="0"/>
              <a:t>CSC3002</a:t>
            </a:r>
            <a:br>
              <a:rPr lang="en-US" altLang="tr-TR" sz="4800" b="1" dirty="0"/>
            </a:br>
            <a:r>
              <a:rPr lang="en-US" altLang="tr-TR" sz="4800" b="1" dirty="0"/>
              <a:t>C/C++</a:t>
            </a:r>
            <a:r>
              <a:rPr lang="zh-CN" altLang="en-US" sz="4800" b="1" dirty="0"/>
              <a:t> </a:t>
            </a:r>
            <a:r>
              <a:rPr lang="en-US" altLang="zh-CN" sz="4800" b="1" dirty="0"/>
              <a:t>Programming</a:t>
            </a:r>
            <a:r>
              <a:rPr lang="en-US" altLang="tr-TR" sz="4800" b="1" dirty="0"/>
              <a:t> </a:t>
            </a:r>
            <a:br>
              <a:rPr lang="en-US" altLang="tr-TR" sz="4800" b="1" dirty="0"/>
            </a:br>
            <a:br>
              <a:rPr lang="en-US" altLang="tr-TR" sz="4800" b="1" dirty="0"/>
            </a:br>
            <a:br>
              <a:rPr lang="en-US" altLang="tr-TR" sz="4800" b="1" dirty="0"/>
            </a:br>
            <a:r>
              <a:rPr lang="en-US" altLang="tr-TR" sz="3300" b="1" dirty="0"/>
              <a:t>Functions and Libraries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550D84E-118E-8EED-189F-D5C4C56EC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5431536"/>
            <a:ext cx="6400800" cy="1261872"/>
          </a:xfrm>
        </p:spPr>
        <p:txBody>
          <a:bodyPr/>
          <a:lstStyle/>
          <a:p>
            <a:pPr eaLnBrk="1" hangingPunct="1"/>
            <a:r>
              <a:rPr lang="en-US" altLang="zh-CN" b="1" dirty="0"/>
              <a:t>Prof. Dr. Ruizhi</a:t>
            </a:r>
            <a:r>
              <a:rPr lang="zh-CN" altLang="en-US" b="1" dirty="0"/>
              <a:t> </a:t>
            </a:r>
            <a:r>
              <a:rPr lang="en-US" altLang="zh-CN" b="1" dirty="0"/>
              <a:t>Chen</a:t>
            </a:r>
            <a:r>
              <a:rPr lang="zh-CN" altLang="en-US" b="1" dirty="0"/>
              <a:t>，</a:t>
            </a:r>
            <a:r>
              <a:rPr lang="en-US" altLang="zh-CN" b="1" dirty="0"/>
              <a:t>SDS/SAI</a:t>
            </a:r>
          </a:p>
          <a:p>
            <a:pPr eaLnBrk="1" hangingPunct="1"/>
            <a:r>
              <a:rPr lang="en-US" altLang="zh-CN" b="1" dirty="0"/>
              <a:t>Office: </a:t>
            </a:r>
            <a:r>
              <a:rPr lang="en-US" altLang="zh-CN" b="1" dirty="0" err="1"/>
              <a:t>TxC</a:t>
            </a:r>
            <a:r>
              <a:rPr lang="en-US" altLang="zh-CN" b="1" dirty="0"/>
              <a:t> 717</a:t>
            </a:r>
          </a:p>
        </p:txBody>
      </p:sp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84FF9C14-6649-0FEC-97E1-1F85595F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43F0EA-1B9C-2A4F-95E8-A82FED1FE861}" type="slidenum">
              <a:rPr lang="en-US" altLang="tr-TR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tr-TR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3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1019174"/>
            <a:ext cx="5442855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solidFill>
                  <a:srgbClr val="000000"/>
                </a:solidFill>
              </a:rPr>
              <a:t>Functions and Libraries</a:t>
            </a:r>
          </a:p>
        </p:txBody>
      </p:sp>
      <p:sp>
        <p:nvSpPr>
          <p:cNvPr id="30" name="Text Box 2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133600" y="2235133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rgbClr val="3333CC"/>
                </a:solidFill>
              </a:rPr>
              <a:t>2.1  The idea of a function</a:t>
            </a: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133600" y="4248151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chemeClr val="bg1">
                    <a:lumMod val="75000"/>
                  </a:schemeClr>
                </a:solidFill>
              </a:rPr>
              <a:t>2.6  Libraries</a:t>
            </a:r>
          </a:p>
        </p:txBody>
      </p:sp>
      <p:sp>
        <p:nvSpPr>
          <p:cNvPr id="32" name="Text Box 2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133600" y="2629781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rgbClr val="3333CC"/>
                </a:solidFill>
              </a:rPr>
              <a:t>2.2  Defining functions in C++</a:t>
            </a:r>
          </a:p>
        </p:txBody>
      </p:sp>
      <p:sp>
        <p:nvSpPr>
          <p:cNvPr id="33" name="Text Box 29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2133600" y="3025797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rgbClr val="3333CC"/>
                </a:solidFill>
              </a:rPr>
              <a:t>2.3  The mechanics of function calls</a:t>
            </a:r>
          </a:p>
        </p:txBody>
      </p:sp>
      <p:sp>
        <p:nvSpPr>
          <p:cNvPr id="34" name="Text Box 30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133600" y="3421813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rgbClr val="3333CC"/>
                </a:solidFill>
              </a:rPr>
              <a:t>2.4  Reference parameters</a:t>
            </a:r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2133600" y="5046794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chemeClr val="bg1">
                    <a:lumMod val="75000"/>
                  </a:schemeClr>
                </a:solidFill>
              </a:rPr>
              <a:t>2.8  Interfaces and implementations</a:t>
            </a:r>
          </a:p>
        </p:txBody>
      </p:sp>
      <p:sp>
        <p:nvSpPr>
          <p:cNvPr id="36" name="Text Box 3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33600" y="5442810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chemeClr val="bg1">
                    <a:lumMod val="75000"/>
                  </a:schemeClr>
                </a:solidFill>
              </a:rPr>
              <a:t>2.9  Principles of interface design</a:t>
            </a:r>
          </a:p>
        </p:txBody>
      </p:sp>
      <p:sp>
        <p:nvSpPr>
          <p:cNvPr id="37" name="Text Box 3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33600" y="5838826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chemeClr val="bg1">
                    <a:lumMod val="75000"/>
                  </a:schemeClr>
                </a:solidFill>
              </a:rPr>
              <a:t>2.10  Designing a random number library</a:t>
            </a:r>
          </a:p>
        </p:txBody>
      </p:sp>
      <p:sp>
        <p:nvSpPr>
          <p:cNvPr id="17" name="Text Box 3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33600" y="4648201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chemeClr val="bg1">
                    <a:lumMod val="75000"/>
                  </a:schemeClr>
                </a:solidFill>
              </a:rPr>
              <a:t>2.7  Introduction to the </a:t>
            </a:r>
            <a:r>
              <a:rPr lang="en-US" altLang="zh-CN" sz="2400" b="0" u="sng" dirty="0">
                <a:solidFill>
                  <a:schemeClr val="bg1">
                    <a:lumMod val="75000"/>
                  </a:schemeClr>
                </a:solidFill>
              </a:rPr>
              <a:t>C++</a:t>
            </a:r>
            <a:r>
              <a:rPr lang="en-US" sz="2400" b="0" u="sng" dirty="0">
                <a:solidFill>
                  <a:schemeClr val="bg1">
                    <a:lumMod val="75000"/>
                  </a:schemeClr>
                </a:solidFill>
              </a:rPr>
              <a:t> libraries</a:t>
            </a:r>
          </a:p>
        </p:txBody>
      </p:sp>
      <p:sp>
        <p:nvSpPr>
          <p:cNvPr id="2" name="Text Box 30">
            <a:hlinkClick r:id="rId6" action="ppaction://hlinksldjump"/>
            <a:extLst>
              <a:ext uri="{FF2B5EF4-FFF2-40B4-BE49-F238E27FC236}">
                <a16:creationId xmlns:a16="http://schemas.microsoft.com/office/drawing/2014/main" id="{4EE3A9CB-F95C-4EF8-620F-FDB402D4F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817264"/>
            <a:ext cx="73152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0" u="sng" dirty="0">
                <a:solidFill>
                  <a:srgbClr val="3333CC"/>
                </a:solidFill>
              </a:rPr>
              <a:t>2.5 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90487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Idea of a Function</a:t>
            </a:r>
            <a:endParaRPr lang="en-US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62000" y="1219200"/>
            <a:ext cx="10820400" cy="5245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Clr>
                <a:schemeClr val="tx1"/>
              </a:buClr>
              <a:buFontTx/>
              <a:buChar char="•"/>
            </a:pP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are a familiar concept from algebra, where they specify a mathematical calculation based on one or more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unknown values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which are called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arguments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265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As an example, the mathematical function</a:t>
            </a:r>
          </a:p>
          <a:p>
            <a:pPr marL="342265">
              <a:lnSpc>
                <a:spcPct val="85000"/>
              </a:lnSpc>
              <a:spcAft>
                <a:spcPts val="1200"/>
              </a:spcAft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265">
              <a:lnSpc>
                <a:spcPct val="85000"/>
              </a:lnSpc>
              <a:spcAft>
                <a:spcPts val="1200"/>
              </a:spcAft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specifies that you can calculate the value of the function 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  <a:cs typeface="Times New Roman" panose="02020603050405020304"/>
              </a:rPr>
              <a:t>ƒ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by squaring the argument x and then adding 1 to the result.  Thus, 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  <a:cs typeface="Times New Roman" panose="02020603050405020304"/>
              </a:rPr>
              <a:t>ƒ(0) is 1, ƒ(1) is 2, ƒ(2) is 5, and so on.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  </a:t>
            </a:r>
          </a:p>
          <a:p>
            <a:pPr marL="342265">
              <a:lnSpc>
                <a:spcPct val="85000"/>
              </a:lnSpc>
              <a:spcAft>
                <a:spcPts val="1200"/>
              </a:spcAft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In a computer program, a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function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  <a:sym typeface="+mn-ea"/>
              </a:rPr>
              <a:t> is a named section of code that performs a specific set of statements.</a:t>
            </a:r>
            <a:endParaRPr lang="en-US" altLang="zh-CN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 C++, you can implement a mathematical function by encoding the calculation inside a function definition, like this: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6934200" y="5744183"/>
            <a:ext cx="2971800" cy="9233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double </a:t>
            </a:r>
            <a:r>
              <a:rPr lang="en-US" sz="1800" b="0" dirty="0" err="1">
                <a:solidFill>
                  <a:srgbClr val="0000FF"/>
                </a:solidFill>
                <a:latin typeface="Courier New" panose="02070309020205020404" charset="0"/>
              </a:rPr>
              <a:t>f(double</a:t>
            </a:r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1800" b="0" dirty="0" err="1">
                <a:solidFill>
                  <a:srgbClr val="0000FF"/>
                </a:solidFill>
                <a:latin typeface="Courier New" panose="02070309020205020404" charset="0"/>
              </a:rPr>
              <a:t>x</a:t>
            </a:r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) {</a:t>
            </a:r>
          </a:p>
          <a:p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   return </a:t>
            </a:r>
            <a:r>
              <a:rPr lang="en-US" sz="1800" b="0" dirty="0" err="1">
                <a:solidFill>
                  <a:srgbClr val="0000FF"/>
                </a:solidFill>
                <a:latin typeface="Courier New" panose="02070309020205020404" charset="0"/>
              </a:rPr>
              <a:t>x</a:t>
            </a:r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 * </a:t>
            </a:r>
            <a:r>
              <a:rPr lang="en-US" sz="1800" b="0" dirty="0" err="1">
                <a:solidFill>
                  <a:srgbClr val="0000FF"/>
                </a:solidFill>
                <a:latin typeface="Courier New" panose="02070309020205020404" charset="0"/>
              </a:rPr>
              <a:t>x</a:t>
            </a:r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 + 1;</a:t>
            </a:r>
          </a:p>
          <a:p>
            <a:r>
              <a:rPr lang="en-US" sz="1800" b="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</p:txBody>
      </p:sp>
      <p:sp>
        <p:nvSpPr>
          <p:cNvPr id="2" name="TextBox 11"/>
          <p:cNvSpPr txBox="1"/>
          <p:nvPr/>
        </p:nvSpPr>
        <p:spPr>
          <a:xfrm>
            <a:off x="4800600" y="2743200"/>
            <a:ext cx="29718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2400" b="0" i="1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ƒ</a:t>
            </a:r>
            <a:r>
              <a:rPr lang="en-US" sz="2400" b="0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(</a:t>
            </a:r>
            <a:r>
              <a:rPr lang="en-US" sz="2400" b="0" i="1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x</a:t>
            </a:r>
            <a:r>
              <a:rPr lang="en-US" sz="2400" b="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)  =  </a:t>
            </a:r>
            <a:r>
              <a:rPr lang="en-US" sz="2400" b="0" i="1" spc="1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x</a:t>
            </a:r>
            <a:r>
              <a:rPr lang="en-US" sz="2000" b="0" baseline="350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2</a:t>
            </a:r>
            <a:r>
              <a:rPr lang="en-US" sz="2400" b="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 + 1</a:t>
            </a:r>
            <a:r>
              <a:rPr lang="en-US" sz="2400" b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214339F3-0949-5DB6-1CD5-CE83432D7B7E}"/>
              </a:ext>
            </a:extLst>
          </p:cNvPr>
          <p:cNvSpPr txBox="1"/>
          <p:nvPr/>
        </p:nvSpPr>
        <p:spPr>
          <a:xfrm>
            <a:off x="2971800" y="5975015"/>
            <a:ext cx="29718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2400" b="0" i="1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ƒ</a:t>
            </a:r>
            <a:r>
              <a:rPr lang="en-US" sz="2400" b="0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(</a:t>
            </a:r>
            <a:r>
              <a:rPr lang="en-US" sz="2400" b="0" i="1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x</a:t>
            </a:r>
            <a:r>
              <a:rPr lang="en-US" sz="2400" b="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)  =  </a:t>
            </a:r>
            <a:r>
              <a:rPr lang="en-US" sz="2400" b="0" i="1" spc="1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x</a:t>
            </a:r>
            <a:r>
              <a:rPr lang="en-US" sz="2000" b="0" baseline="350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2</a:t>
            </a:r>
            <a:r>
              <a:rPr lang="en-US" sz="2400" b="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/>
                <a:cs typeface="Courier New" panose="02070309020205020404" pitchFamily="49" charset="0"/>
              </a:rPr>
              <a:t> + 1</a:t>
            </a:r>
            <a:r>
              <a:rPr lang="en-US" sz="2400" b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右箭头 3">
            <a:extLst>
              <a:ext uri="{FF2B5EF4-FFF2-40B4-BE49-F238E27FC236}">
                <a16:creationId xmlns:a16="http://schemas.microsoft.com/office/drawing/2014/main" id="{77E7AE99-39B0-FA66-F026-F9FA3D411136}"/>
              </a:ext>
            </a:extLst>
          </p:cNvPr>
          <p:cNvSpPr/>
          <p:nvPr/>
        </p:nvSpPr>
        <p:spPr>
          <a:xfrm>
            <a:off x="6286500" y="6090430"/>
            <a:ext cx="419100" cy="23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1999" y="635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 </a:t>
            </a:r>
            <a:r>
              <a:rPr lang="en-US" altLang="zh-CN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 Programming</a:t>
            </a:r>
            <a:endParaRPr lang="en-US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85799" y="1447800"/>
            <a:ext cx="10820401" cy="5245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 programming languages, a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is a block of code that has been organized into a separate unit and given a name.</a:t>
            </a:r>
          </a:p>
          <a:p>
            <a:pPr marL="342900" indent="-3429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Once a function is defined, the act of using the name to invoke that code is known as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calling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that function.</a:t>
            </a:r>
          </a:p>
          <a:p>
            <a:pPr marL="342900" indent="-3429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calling program can pass information to the function using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arguments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Once called, the function takes the data supplied as arguments, does its work, and then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returns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to the calling program at the point in the code from which the call was made.  As it returns, a function often passes a value back to its caller.</a:t>
            </a:r>
          </a:p>
          <a:p>
            <a:pPr marL="342900" indent="-342900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Essentially you are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copying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the code inside a function definition to where it is called, with the variables (i.e.,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parameters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 in the function replaced by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arguments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from the caller.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50205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Parameters vs. Arguments</a:t>
            </a:r>
            <a:endParaRPr lang="en-US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665264" y="1377950"/>
            <a:ext cx="10993336" cy="4102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parameter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is a placeholder for one of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arguments supplied in the function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call and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acts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in most respects just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like a local variable.</a:t>
            </a:r>
          </a:p>
          <a:p>
            <a:pPr marL="800100" lvl="1" indent="-342900">
              <a:lnSpc>
                <a:spcPct val="90000"/>
              </a:lnSpc>
              <a:spcAft>
                <a:spcPts val="1200"/>
              </a:spcAft>
              <a:buFont typeface="Times New Roman" panose="02020603050405020304" charset="0"/>
              <a:buChar char="‒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parameter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is a variable in a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 declaration 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and definition, and a placeholder for the argument.</a:t>
            </a:r>
          </a:p>
          <a:p>
            <a:pPr marL="800100" lvl="1" indent="-342900">
              <a:lnSpc>
                <a:spcPct val="90000"/>
              </a:lnSpc>
              <a:spcAft>
                <a:spcPts val="1200"/>
              </a:spcAft>
              <a:buFont typeface="Times New Roman" panose="02020603050405020304" charset="0"/>
              <a:buChar char="‒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 argument is an expression used when calling the function, and an actualization of the parameter.</a:t>
            </a:r>
          </a:p>
          <a:p>
            <a:pPr marL="800100" lvl="1" indent="-342900">
              <a:lnSpc>
                <a:spcPct val="90000"/>
              </a:lnSpc>
              <a:spcAft>
                <a:spcPts val="1200"/>
              </a:spcAft>
              <a:buFont typeface="Times New Roman" panose="02020603050405020304" charset="0"/>
              <a:buChar char="‒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When a function is called, the arguments are the data (actual values) you pass into the function's parameters (local variables).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6A5014-F9CB-C8BF-8915-3B5F16E7E0FF}"/>
              </a:ext>
            </a:extLst>
          </p:cNvPr>
          <p:cNvSpPr txBox="1"/>
          <p:nvPr/>
        </p:nvSpPr>
        <p:spPr>
          <a:xfrm>
            <a:off x="3048000" y="4724400"/>
            <a:ext cx="30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double f(double x) {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return x * x + 1;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  <a:p>
            <a:endParaRPr lang="en-US" altLang="zh-CN" sz="16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double y = 1.0;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double z = f(y);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8FFD8F-01F1-F505-9B6E-C03AD33E264B}"/>
              </a:ext>
            </a:extLst>
          </p:cNvPr>
          <p:cNvSpPr txBox="1"/>
          <p:nvPr/>
        </p:nvSpPr>
        <p:spPr>
          <a:xfrm>
            <a:off x="6400801" y="4795023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- parameter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2E47F1-215F-A226-5178-E8AB6550158F}"/>
              </a:ext>
            </a:extLst>
          </p:cNvPr>
          <p:cNvSpPr txBox="1"/>
          <p:nvPr/>
        </p:nvSpPr>
        <p:spPr>
          <a:xfrm>
            <a:off x="6395721" y="5846246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- argument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Advantages of Using Functions</a:t>
            </a:r>
            <a:endParaRPr lang="en-US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23608" y="1295400"/>
            <a:ext cx="10911191" cy="5168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allow you to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shorten a program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by allowing you to include the code for a particular operation once and then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reuse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it as often as you want in a variety of different contexts, typically with different arguments.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make programs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easier to read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by allowing you to invoke an entire sequence of operations using a single name (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abstraction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 that corresponds to a higher-level understanding of the purpose of the function.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simplify program maintenance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by allowing you to divide a large program into smaller, more manageable pieces.  This process is called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decomposition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You can update the implementation of a function without affecting the programs that call the function.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Top-down design/stepwise refinement.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1397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Defining Functions in C++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677423" y="1460500"/>
            <a:ext cx="10837154" cy="5397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general form of a function definition in C++ looks much the same as it does in other languages derived from C, such as Java, but slightly more complicated than in Python:</a:t>
            </a: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where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type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indicates what type the function returns,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name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is the name of the function, and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parameter list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is a list of variable declarations used to hold the values of each argument.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Clr>
                <a:schemeClr val="tx1"/>
              </a:buClr>
              <a:buFontTx/>
              <a:buChar char="•"/>
            </a:pP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statements in the function body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implement the function (e.g., the algorithm), at least including a </a:t>
            </a:r>
            <a:r>
              <a:rPr lang="en-US" altLang="zh-CN" sz="20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return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statement.</a:t>
            </a:r>
          </a:p>
        </p:txBody>
      </p:sp>
      <p:sp>
        <p:nvSpPr>
          <p:cNvPr id="585733" name="Text Box 5"/>
          <p:cNvSpPr txBox="1">
            <a:spLocks noChangeArrowheads="1"/>
          </p:cNvSpPr>
          <p:nvPr/>
        </p:nvSpPr>
        <p:spPr bwMode="auto">
          <a:xfrm>
            <a:off x="3810000" y="2667000"/>
            <a:ext cx="4187370" cy="110799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2200" b="0" i="1" dirty="0">
                <a:solidFill>
                  <a:srgbClr val="0000FF"/>
                </a:solidFill>
              </a:rPr>
              <a:t>type</a:t>
            </a:r>
            <a:r>
              <a:rPr lang="en-US" sz="22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2200" b="0" i="1" dirty="0">
                <a:solidFill>
                  <a:srgbClr val="0000FF"/>
                </a:solidFill>
              </a:rPr>
              <a:t>name </a:t>
            </a:r>
            <a:r>
              <a:rPr lang="en-US" sz="2200" dirty="0">
                <a:solidFill>
                  <a:srgbClr val="0000FF"/>
                </a:solidFill>
                <a:latin typeface="Courier New" panose="02070309020205020404" charset="0"/>
              </a:rPr>
              <a:t>(</a:t>
            </a:r>
            <a:r>
              <a:rPr lang="en-US" sz="2200" b="0" i="1" dirty="0">
                <a:solidFill>
                  <a:srgbClr val="0000FF"/>
                </a:solidFill>
              </a:rPr>
              <a:t>parameter list</a:t>
            </a:r>
            <a:r>
              <a:rPr lang="en-US" sz="2200" dirty="0">
                <a:solidFill>
                  <a:srgbClr val="0000FF"/>
                </a:solidFill>
                <a:latin typeface="Courier New" panose="02070309020205020404" charset="0"/>
              </a:rPr>
              <a:t>)</a:t>
            </a:r>
            <a:r>
              <a:rPr lang="en-US" sz="12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urier New" panose="02070309020205020404" charset="0"/>
              </a:rPr>
              <a:t>{</a:t>
            </a:r>
          </a:p>
          <a:p>
            <a:r>
              <a:rPr lang="en-US" sz="2200" b="0" i="1" dirty="0">
                <a:solidFill>
                  <a:srgbClr val="0000FF"/>
                </a:solidFill>
                <a:latin typeface="Courier New" panose="02070309020205020404" charset="0"/>
              </a:rPr>
              <a:t>   </a:t>
            </a:r>
            <a:r>
              <a:rPr lang="en-US" sz="2200" b="0" i="1" dirty="0">
                <a:solidFill>
                  <a:srgbClr val="0000FF"/>
                </a:solidFill>
              </a:rPr>
              <a:t>statements in the function body</a:t>
            </a:r>
            <a:endParaRPr lang="en-US" sz="22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3792166" y="5943600"/>
            <a:ext cx="2971800" cy="364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>
              <a:lnSpc>
                <a:spcPct val="85000"/>
              </a:lnSpc>
              <a:spcAft>
                <a:spcPct val="5000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charset="0"/>
              </a:rPr>
              <a:t>return </a:t>
            </a:r>
            <a:r>
              <a:rPr lang="en-US" altLang="zh-CN" sz="2000" b="0" i="1" dirty="0">
                <a:solidFill>
                  <a:srgbClr val="0000FF"/>
                </a:solidFill>
                <a:latin typeface="Courier New" panose="02070309020205020404" charset="0"/>
              </a:rPr>
              <a:t>expression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charset="0"/>
              </a:rPr>
              <a:t>;</a:t>
            </a:r>
            <a:endParaRPr lang="en-US" sz="2000" b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7289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Defining Functions in C++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914400" y="1371600"/>
            <a:ext cx="10896600" cy="5092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that return Boolean results are called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predicate functions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that return no value at all are usually called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procedure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using </a:t>
            </a:r>
            <a:r>
              <a:rPr lang="en-US" altLang="zh-CN" sz="18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void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as the result type.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altLang="zh-CN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All functions need to be declared before they are called by specifying a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prototype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consisting of the header line followed by a semicolon.</a:t>
            </a:r>
          </a:p>
        </p:txBody>
      </p:sp>
      <p:sp>
        <p:nvSpPr>
          <p:cNvPr id="585733" name="Text Box 5"/>
          <p:cNvSpPr txBox="1">
            <a:spLocks noChangeArrowheads="1"/>
          </p:cNvSpPr>
          <p:nvPr/>
        </p:nvSpPr>
        <p:spPr bwMode="auto">
          <a:xfrm>
            <a:off x="4535715" y="2057400"/>
            <a:ext cx="3120570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bool </a:t>
            </a:r>
            <a:r>
              <a:rPr lang="en-US" altLang="zh-CN" sz="1800" dirty="0" err="1">
                <a:solidFill>
                  <a:srgbClr val="0000FF"/>
                </a:solidFill>
                <a:latin typeface="Courier New" panose="02070309020205020404" charset="0"/>
              </a:rPr>
              <a:t>isEven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urier New" panose="02070309020205020404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 n) {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   return n % 2 == 0;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. . . 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if (</a:t>
            </a:r>
            <a:r>
              <a:rPr lang="en-US" altLang="zh-CN" sz="1800" dirty="0" err="1">
                <a:solidFill>
                  <a:srgbClr val="0000FF"/>
                </a:solidFill>
                <a:latin typeface="Courier New" panose="02070309020205020404" charset="0"/>
              </a:rPr>
              <a:t>isEven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urier New" panose="02070309020205020404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urier New" panose="02070309020205020404" charset="0"/>
              </a:rPr>
              <a:t>)) . . .</a:t>
            </a:r>
            <a:endParaRPr lang="en-US" sz="1800" dirty="0">
              <a:solidFill>
                <a:srgbClr val="0000FF"/>
              </a:solidFill>
              <a:latin typeface="Courier New" panose="020703090202050204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635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 Prototypes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812800" y="990600"/>
            <a:ext cx="10845800" cy="5473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 prototype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is simply the header line of the function followed by a semicolon, which you put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 front of the main function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so that the compiler knows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what arguments the function requires and what type of value it returns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before you actually define the function.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If you always define functions before you call them, prototypes are not required. </a:t>
            </a:r>
          </a:p>
          <a:p>
            <a:pPr marL="800100" lvl="1" indent="-342900">
              <a:lnSpc>
                <a:spcPct val="85000"/>
              </a:lnSpc>
              <a:spcAft>
                <a:spcPts val="1200"/>
              </a:spcAft>
              <a:buFont typeface="Times New Roman" panose="02020603050405020304" charset="0"/>
              <a:buChar char="‒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E.g.,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low-level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functions come at the beginning, followed by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intermediate-level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that call them, with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main program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coming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at the very bottom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While this strategy can save a few prototype lines, it is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counterintuitive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in the sense of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top-down design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since the most general functions appear at the end.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And there might be situations where you cannot always define functions before you call them (e.g., mutual recursion).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635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and Algorithms</a:t>
            </a:r>
            <a:endParaRPr lang="en-US" sz="4000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78563" name="Rectangle 3"/>
          <p:cNvSpPr>
            <a:spLocks noChangeArrowheads="1"/>
          </p:cNvSpPr>
          <p:nvPr/>
        </p:nvSpPr>
        <p:spPr bwMode="auto">
          <a:xfrm>
            <a:off x="838200" y="1447800"/>
            <a:ext cx="10515600" cy="4864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are critical to programming because they provide a structure in which to express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algorithms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Algorithms for solving a particular problem can vary widely in their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efficiency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(or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complexity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).  It makes sense to think carefully when you are choosing an algorithm because making a bad choice can be extremely costly.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next few slides illustrate this principle by implementing two algorithms for computing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greatest common divisor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of the integers x and y, which is defined to be the largest integer that divides evenly into both.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29183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Brute-Force Approach  </a:t>
            </a:r>
            <a:endParaRPr lang="en-US" sz="4000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0611" name="Rectangle 3"/>
          <p:cNvSpPr>
            <a:spLocks noChangeArrowheads="1"/>
          </p:cNvSpPr>
          <p:nvPr/>
        </p:nvSpPr>
        <p:spPr bwMode="auto">
          <a:xfrm>
            <a:off x="609600" y="990600"/>
            <a:ext cx="10896600" cy="5397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One strategy for computing the greatest common divisor is to count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backwards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from the smaller value until you find one that divides evenly into both.  The code looks like this: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This algorithm must terminate for positive values of </a:t>
            </a:r>
            <a:r>
              <a:rPr lang="en-US" altLang="zh-CN" sz="22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and </a:t>
            </a:r>
            <a:r>
              <a:rPr lang="en-US" altLang="zh-CN" sz="22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y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because the value of </a:t>
            </a:r>
            <a:r>
              <a:rPr lang="en-US" altLang="zh-CN" sz="22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guess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will eventually reach 1.  At that point, </a:t>
            </a:r>
            <a:r>
              <a:rPr lang="en-US" altLang="zh-CN" sz="22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guess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must be the greatest common divisor because the </a:t>
            </a:r>
            <a:r>
              <a:rPr lang="en-US" altLang="zh-CN" sz="22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while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loop will have already tested all larger ones.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Trying every possibility is called a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brute-force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strategy.</a:t>
            </a:r>
          </a:p>
        </p:txBody>
      </p:sp>
      <p:sp>
        <p:nvSpPr>
          <p:cNvPr id="580617" name="Rectangle 9"/>
          <p:cNvSpPr>
            <a:spLocks noChangeArrowheads="1"/>
          </p:cNvSpPr>
          <p:nvPr/>
        </p:nvSpPr>
        <p:spPr bwMode="auto">
          <a:xfrm>
            <a:off x="2743200" y="2133600"/>
            <a:ext cx="6364515" cy="2014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noProof="1">
                <a:solidFill>
                  <a:srgbClr val="0000FF"/>
                </a:solidFill>
                <a:latin typeface="Courier New" panose="02070309020205020404" charset="0"/>
              </a:rPr>
              <a:t>int gcd(int x, int y)</a:t>
            </a:r>
            <a:r>
              <a:rPr lang="en-US" sz="10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{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</a:t>
            </a:r>
            <a:r>
              <a:rPr sz="1800" noProof="1">
                <a:solidFill>
                  <a:srgbClr val="0000FF"/>
                </a:solidFill>
                <a:latin typeface="Courier New" panose="02070309020205020404" charset="0"/>
              </a:rPr>
              <a:t>int guess = </a:t>
            </a:r>
            <a:r>
              <a:rPr lang="en-US" sz="1800" noProof="1">
                <a:solidFill>
                  <a:srgbClr val="0000FF"/>
                </a:solidFill>
                <a:latin typeface="Courier New" panose="02070309020205020404" charset="0"/>
              </a:rPr>
              <a:t>(x &lt; y) ? x : y</a:t>
            </a:r>
            <a:r>
              <a:rPr sz="1800" noProof="1">
                <a:solidFill>
                  <a:srgbClr val="0000FF"/>
                </a:solidFill>
                <a:latin typeface="Courier New" panose="02070309020205020404" charset="0"/>
              </a:rPr>
              <a:t>;</a:t>
            </a:r>
            <a:endParaRPr lang="en-US" sz="18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</a:t>
            </a:r>
            <a:r>
              <a:rPr sz="1800" noProof="1">
                <a:solidFill>
                  <a:srgbClr val="0000FF"/>
                </a:solidFill>
                <a:latin typeface="Courier New" panose="02070309020205020404" charset="0"/>
              </a:rPr>
              <a:t>while (x % guess != 0 || y % guess != 0) {</a:t>
            </a:r>
            <a:endParaRPr lang="en-US" sz="18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   </a:t>
            </a:r>
            <a:r>
              <a:rPr sz="1800" noProof="1">
                <a:solidFill>
                  <a:srgbClr val="0000FF"/>
                </a:solidFill>
                <a:latin typeface="Courier New" panose="02070309020205020404" charset="0"/>
              </a:rPr>
              <a:t>guess--;</a:t>
            </a:r>
            <a:endParaRPr lang="en-US" sz="18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}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return guess;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34047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Euclid’s Algorithm  </a:t>
            </a:r>
            <a:endParaRPr lang="en-US" sz="4000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2659" name="Rectangle 3"/>
          <p:cNvSpPr>
            <a:spLocks noChangeArrowheads="1"/>
          </p:cNvSpPr>
          <p:nvPr/>
        </p:nvSpPr>
        <p:spPr bwMode="auto">
          <a:xfrm>
            <a:off x="914400" y="1113547"/>
            <a:ext cx="10287000" cy="2501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If you use the brute-force approach to compute the greatest common divisor of 1000005 and 1000000, the program will take almost a million steps to tell you the answer is 5.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You can get the answer much more quickly if you use a better algorithm.  The Greek mathematician Euclid Alexandria described a more efficient algorithm 23 centuries ago, which looks like this:</a:t>
            </a:r>
          </a:p>
        </p:txBody>
      </p:sp>
      <p:sp>
        <p:nvSpPr>
          <p:cNvPr id="582662" name="Rectangle 6"/>
          <p:cNvSpPr>
            <a:spLocks noChangeArrowheads="1"/>
          </p:cNvSpPr>
          <p:nvPr/>
        </p:nvSpPr>
        <p:spPr bwMode="auto">
          <a:xfrm>
            <a:off x="1600200" y="3474953"/>
            <a:ext cx="3276606" cy="25638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int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gcd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(int x, int y)</a:t>
            </a:r>
            <a:r>
              <a:rPr lang="en-US" sz="10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{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int r = x % y;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while (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r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!= 0)</a:t>
            </a:r>
            <a:r>
              <a:rPr lang="en-US" sz="10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{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  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x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y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;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  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y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r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;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  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r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x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%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y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;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}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return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y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;</a:t>
            </a:r>
          </a:p>
          <a:p>
            <a:pPr>
              <a:defRPr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</p:txBody>
      </p:sp>
      <p:pic>
        <p:nvPicPr>
          <p:cNvPr id="582664" name="Picture 8" descr="Euclid_5-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000" y="3411166"/>
            <a:ext cx="2698944" cy="26264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84200" y="3175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How Euclid’s Algorithm Works  </a:t>
            </a:r>
            <a:endParaRPr lang="en-US" sz="4000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4707" name="Rectangle 3"/>
          <p:cNvSpPr>
            <a:spLocks noChangeArrowheads="1"/>
          </p:cNvSpPr>
          <p:nvPr/>
        </p:nvSpPr>
        <p:spPr bwMode="auto">
          <a:xfrm>
            <a:off x="590684" y="1174750"/>
            <a:ext cx="11144115" cy="4635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Euclid’s great insight was that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greatest common divisor of x and y must also be the greatest common divisor of y and the remainder of x divided by y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If you use Euclid’s algorithm on 1000005 and 1000000, you get the correct answer in just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steps, which is much better than the million steps required by brute force.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It is easy to see how Euclid’s algorithm works if you think about the problem geometrically, as Euclid did.  The next slide works through the steps in the calculation when x is 78 and y is 33.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7289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 Illustration of Euclid’s Algorithm</a:t>
            </a:r>
            <a:endParaRPr lang="en-US" sz="4000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grpSp>
        <p:nvGrpSpPr>
          <p:cNvPr id="2" name="Group 104"/>
          <p:cNvGrpSpPr/>
          <p:nvPr/>
        </p:nvGrpSpPr>
        <p:grpSpPr bwMode="auto">
          <a:xfrm>
            <a:off x="604838" y="1144600"/>
            <a:ext cx="8229600" cy="1231899"/>
            <a:chOff x="285" y="723"/>
            <a:chExt cx="5184" cy="776"/>
          </a:xfrm>
        </p:grpSpPr>
        <p:sp>
          <p:nvSpPr>
            <p:cNvPr id="586758" name="Rectangle 6"/>
            <p:cNvSpPr>
              <a:spLocks noChangeArrowheads="1"/>
            </p:cNvSpPr>
            <p:nvPr/>
          </p:nvSpPr>
          <p:spPr bwMode="auto">
            <a:xfrm>
              <a:off x="769" y="1008"/>
              <a:ext cx="4491" cy="192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78</a:t>
              </a:r>
            </a:p>
          </p:txBody>
        </p:sp>
        <p:sp>
          <p:nvSpPr>
            <p:cNvPr id="586759" name="Rectangle 7"/>
            <p:cNvSpPr>
              <a:spLocks noChangeArrowheads="1"/>
            </p:cNvSpPr>
            <p:nvPr/>
          </p:nvSpPr>
          <p:spPr bwMode="auto">
            <a:xfrm>
              <a:off x="536" y="952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x</a:t>
              </a:r>
            </a:p>
          </p:txBody>
        </p:sp>
        <p:sp>
          <p:nvSpPr>
            <p:cNvPr id="586760" name="Rectangle 8"/>
            <p:cNvSpPr>
              <a:spLocks noChangeArrowheads="1"/>
            </p:cNvSpPr>
            <p:nvPr/>
          </p:nvSpPr>
          <p:spPr bwMode="auto">
            <a:xfrm>
              <a:off x="769" y="1264"/>
              <a:ext cx="1900" cy="192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33</a:t>
              </a:r>
            </a:p>
          </p:txBody>
        </p:sp>
        <p:sp>
          <p:nvSpPr>
            <p:cNvPr id="586761" name="Rectangle 9"/>
            <p:cNvSpPr>
              <a:spLocks noChangeArrowheads="1"/>
            </p:cNvSpPr>
            <p:nvPr/>
          </p:nvSpPr>
          <p:spPr bwMode="auto">
            <a:xfrm>
              <a:off x="536" y="1208"/>
              <a:ext cx="21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y</a:t>
              </a:r>
            </a:p>
          </p:txBody>
        </p:sp>
        <p:sp>
          <p:nvSpPr>
            <p:cNvPr id="586768" name="Text Box 16"/>
            <p:cNvSpPr txBox="1">
              <a:spLocks noChangeArrowheads="1"/>
            </p:cNvSpPr>
            <p:nvPr/>
          </p:nvSpPr>
          <p:spPr bwMode="auto">
            <a:xfrm>
              <a:off x="285" y="723"/>
              <a:ext cx="5184" cy="2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85000"/>
                </a:lnSpc>
                <a:spcAft>
                  <a:spcPct val="50000"/>
                </a:spcAft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Step 1: Compute the remainder of 78 divided by 33:</a:t>
              </a:r>
            </a:p>
          </p:txBody>
        </p:sp>
      </p:grpSp>
      <p:sp>
        <p:nvSpPr>
          <p:cNvPr id="586763" name="Rectangle 11"/>
          <p:cNvSpPr>
            <a:spLocks noChangeArrowheads="1"/>
          </p:cNvSpPr>
          <p:nvPr/>
        </p:nvSpPr>
        <p:spPr bwMode="auto">
          <a:xfrm>
            <a:off x="4381500" y="2003436"/>
            <a:ext cx="3016250" cy="304800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33</a:t>
            </a:r>
          </a:p>
        </p:txBody>
      </p:sp>
      <p:sp>
        <p:nvSpPr>
          <p:cNvPr id="586764" name="Rectangle 12"/>
          <p:cNvSpPr>
            <a:spLocks noChangeArrowheads="1"/>
          </p:cNvSpPr>
          <p:nvPr/>
        </p:nvSpPr>
        <p:spPr bwMode="auto">
          <a:xfrm>
            <a:off x="7377113" y="2003436"/>
            <a:ext cx="1116012" cy="3048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12</a:t>
            </a:r>
          </a:p>
        </p:txBody>
      </p:sp>
      <p:grpSp>
        <p:nvGrpSpPr>
          <p:cNvPr id="3" name="Group 105"/>
          <p:cNvGrpSpPr/>
          <p:nvPr/>
        </p:nvGrpSpPr>
        <p:grpSpPr bwMode="auto">
          <a:xfrm>
            <a:off x="609600" y="2503499"/>
            <a:ext cx="8229600" cy="1231899"/>
            <a:chOff x="288" y="1579"/>
            <a:chExt cx="5184" cy="776"/>
          </a:xfrm>
        </p:grpSpPr>
        <p:sp>
          <p:nvSpPr>
            <p:cNvPr id="586809" name="Rectangle 57"/>
            <p:cNvSpPr>
              <a:spLocks noChangeArrowheads="1"/>
            </p:cNvSpPr>
            <p:nvPr/>
          </p:nvSpPr>
          <p:spPr bwMode="auto">
            <a:xfrm>
              <a:off x="539" y="1808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x</a:t>
              </a:r>
            </a:p>
          </p:txBody>
        </p:sp>
        <p:sp>
          <p:nvSpPr>
            <p:cNvPr id="586810" name="Rectangle 58"/>
            <p:cNvSpPr>
              <a:spLocks noChangeArrowheads="1"/>
            </p:cNvSpPr>
            <p:nvPr/>
          </p:nvSpPr>
          <p:spPr bwMode="auto">
            <a:xfrm>
              <a:off x="772" y="1864"/>
              <a:ext cx="1900" cy="192"/>
            </a:xfrm>
            <a:prstGeom prst="rect">
              <a:avLst/>
            </a:prstGeom>
            <a:solidFill>
              <a:srgbClr val="66FF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33</a:t>
              </a:r>
            </a:p>
          </p:txBody>
        </p:sp>
        <p:sp>
          <p:nvSpPr>
            <p:cNvPr id="586811" name="Rectangle 59"/>
            <p:cNvSpPr>
              <a:spLocks noChangeArrowheads="1"/>
            </p:cNvSpPr>
            <p:nvPr/>
          </p:nvSpPr>
          <p:spPr bwMode="auto">
            <a:xfrm>
              <a:off x="539" y="2064"/>
              <a:ext cx="21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y</a:t>
              </a:r>
            </a:p>
          </p:txBody>
        </p:sp>
        <p:sp>
          <p:nvSpPr>
            <p:cNvPr id="586813" name="Rectangle 61"/>
            <p:cNvSpPr>
              <a:spLocks noChangeArrowheads="1"/>
            </p:cNvSpPr>
            <p:nvPr/>
          </p:nvSpPr>
          <p:spPr bwMode="auto">
            <a:xfrm>
              <a:off x="768" y="2120"/>
              <a:ext cx="691" cy="192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12</a:t>
              </a:r>
            </a:p>
          </p:txBody>
        </p:sp>
        <p:sp>
          <p:nvSpPr>
            <p:cNvPr id="586814" name="Text Box 62"/>
            <p:cNvSpPr txBox="1">
              <a:spLocks noChangeArrowheads="1"/>
            </p:cNvSpPr>
            <p:nvPr/>
          </p:nvSpPr>
          <p:spPr bwMode="auto">
            <a:xfrm>
              <a:off x="288" y="1579"/>
              <a:ext cx="5184" cy="2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85000"/>
                </a:lnSpc>
                <a:spcAft>
                  <a:spcPct val="50000"/>
                </a:spcAft>
                <a:defRPr/>
              </a:pPr>
              <a:r>
                <a:rPr lang="en-US" sz="2400" b="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Step 2: Compute the remainder of 33 divided by 12:</a:t>
              </a:r>
            </a:p>
          </p:txBody>
        </p:sp>
      </p:grpSp>
      <p:sp>
        <p:nvSpPr>
          <p:cNvPr id="586816" name="Rectangle 64"/>
          <p:cNvSpPr>
            <a:spLocks noChangeArrowheads="1"/>
          </p:cNvSpPr>
          <p:nvPr/>
        </p:nvSpPr>
        <p:spPr bwMode="auto">
          <a:xfrm>
            <a:off x="3562350" y="3362336"/>
            <a:ext cx="831850" cy="3048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9</a:t>
            </a:r>
          </a:p>
        </p:txBody>
      </p:sp>
      <p:sp>
        <p:nvSpPr>
          <p:cNvPr id="586843" name="Rectangle 91"/>
          <p:cNvSpPr>
            <a:spLocks noChangeArrowheads="1"/>
          </p:cNvSpPr>
          <p:nvPr/>
        </p:nvSpPr>
        <p:spPr bwMode="auto">
          <a:xfrm>
            <a:off x="2463801" y="3362336"/>
            <a:ext cx="1096963" cy="3048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12</a:t>
            </a:r>
          </a:p>
        </p:txBody>
      </p:sp>
      <p:grpSp>
        <p:nvGrpSpPr>
          <p:cNvPr id="4" name="Group 106"/>
          <p:cNvGrpSpPr/>
          <p:nvPr/>
        </p:nvGrpSpPr>
        <p:grpSpPr bwMode="auto">
          <a:xfrm>
            <a:off x="609600" y="3862398"/>
            <a:ext cx="8229600" cy="1231899"/>
            <a:chOff x="288" y="2435"/>
            <a:chExt cx="5184" cy="776"/>
          </a:xfrm>
        </p:grpSpPr>
        <p:sp>
          <p:nvSpPr>
            <p:cNvPr id="586819" name="Rectangle 67"/>
            <p:cNvSpPr>
              <a:spLocks noChangeArrowheads="1"/>
            </p:cNvSpPr>
            <p:nvPr/>
          </p:nvSpPr>
          <p:spPr bwMode="auto">
            <a:xfrm>
              <a:off x="539" y="2664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x</a:t>
              </a:r>
            </a:p>
          </p:txBody>
        </p:sp>
        <p:sp>
          <p:nvSpPr>
            <p:cNvPr id="586821" name="Rectangle 69"/>
            <p:cNvSpPr>
              <a:spLocks noChangeArrowheads="1"/>
            </p:cNvSpPr>
            <p:nvPr/>
          </p:nvSpPr>
          <p:spPr bwMode="auto">
            <a:xfrm>
              <a:off x="539" y="2920"/>
              <a:ext cx="21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y</a:t>
              </a:r>
            </a:p>
          </p:txBody>
        </p:sp>
        <p:sp>
          <p:nvSpPr>
            <p:cNvPr id="586823" name="Text Box 71"/>
            <p:cNvSpPr txBox="1">
              <a:spLocks noChangeArrowheads="1"/>
            </p:cNvSpPr>
            <p:nvPr/>
          </p:nvSpPr>
          <p:spPr bwMode="auto">
            <a:xfrm>
              <a:off x="288" y="2435"/>
              <a:ext cx="5184" cy="2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85000"/>
                </a:lnSpc>
                <a:spcAft>
                  <a:spcPct val="50000"/>
                </a:spcAft>
                <a:defRPr/>
              </a:pPr>
              <a:r>
                <a:rPr lang="en-US" sz="2400" b="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Step 3: Compute the remainder of 12 divided by 9:</a:t>
              </a:r>
            </a:p>
          </p:txBody>
        </p:sp>
        <p:sp>
          <p:nvSpPr>
            <p:cNvPr id="586844" name="Rectangle 92"/>
            <p:cNvSpPr>
              <a:spLocks noChangeArrowheads="1"/>
            </p:cNvSpPr>
            <p:nvPr/>
          </p:nvSpPr>
          <p:spPr bwMode="auto">
            <a:xfrm>
              <a:off x="768" y="2720"/>
              <a:ext cx="691" cy="192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12</a:t>
              </a:r>
            </a:p>
          </p:txBody>
        </p:sp>
        <p:sp>
          <p:nvSpPr>
            <p:cNvPr id="586845" name="Rectangle 93"/>
            <p:cNvSpPr>
              <a:spLocks noChangeArrowheads="1"/>
            </p:cNvSpPr>
            <p:nvPr/>
          </p:nvSpPr>
          <p:spPr bwMode="auto">
            <a:xfrm>
              <a:off x="768" y="2976"/>
              <a:ext cx="518" cy="19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9</a:t>
              </a:r>
            </a:p>
          </p:txBody>
        </p:sp>
      </p:grpSp>
      <p:sp>
        <p:nvSpPr>
          <p:cNvPr id="586846" name="Rectangle 94"/>
          <p:cNvSpPr>
            <a:spLocks noChangeArrowheads="1"/>
          </p:cNvSpPr>
          <p:nvPr/>
        </p:nvSpPr>
        <p:spPr bwMode="auto">
          <a:xfrm>
            <a:off x="2184400" y="4721236"/>
            <a:ext cx="273050" cy="304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</a:t>
            </a:r>
          </a:p>
        </p:txBody>
      </p:sp>
      <p:grpSp>
        <p:nvGrpSpPr>
          <p:cNvPr id="5" name="Group 107"/>
          <p:cNvGrpSpPr/>
          <p:nvPr/>
        </p:nvGrpSpPr>
        <p:grpSpPr bwMode="auto">
          <a:xfrm>
            <a:off x="609600" y="5221298"/>
            <a:ext cx="8305800" cy="1231899"/>
            <a:chOff x="288" y="3291"/>
            <a:chExt cx="5184" cy="776"/>
          </a:xfrm>
        </p:grpSpPr>
        <p:sp>
          <p:nvSpPr>
            <p:cNvPr id="586847" name="Rectangle 95"/>
            <p:cNvSpPr>
              <a:spLocks noChangeArrowheads="1"/>
            </p:cNvSpPr>
            <p:nvPr/>
          </p:nvSpPr>
          <p:spPr bwMode="auto">
            <a:xfrm>
              <a:off x="539" y="3520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x</a:t>
              </a:r>
            </a:p>
          </p:txBody>
        </p:sp>
        <p:sp>
          <p:nvSpPr>
            <p:cNvPr id="586848" name="Rectangle 96"/>
            <p:cNvSpPr>
              <a:spLocks noChangeArrowheads="1"/>
            </p:cNvSpPr>
            <p:nvPr/>
          </p:nvSpPr>
          <p:spPr bwMode="auto">
            <a:xfrm>
              <a:off x="539" y="3776"/>
              <a:ext cx="211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y</a:t>
              </a:r>
            </a:p>
          </p:txBody>
        </p:sp>
        <p:sp>
          <p:nvSpPr>
            <p:cNvPr id="586849" name="Text Box 97"/>
            <p:cNvSpPr txBox="1">
              <a:spLocks noChangeArrowheads="1"/>
            </p:cNvSpPr>
            <p:nvPr/>
          </p:nvSpPr>
          <p:spPr bwMode="auto">
            <a:xfrm>
              <a:off x="288" y="3291"/>
              <a:ext cx="5184" cy="2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just">
                <a:lnSpc>
                  <a:spcPct val="85000"/>
                </a:lnSpc>
                <a:spcAft>
                  <a:spcPct val="50000"/>
                </a:spcAft>
                <a:defRPr/>
              </a:pPr>
              <a:r>
                <a:rPr lang="en-US" sz="24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Step 4: Compute the remainder of 9 divided by 3:</a:t>
              </a:r>
            </a:p>
          </p:txBody>
        </p:sp>
        <p:sp>
          <p:nvSpPr>
            <p:cNvPr id="586851" name="Rectangle 99"/>
            <p:cNvSpPr>
              <a:spLocks noChangeArrowheads="1"/>
            </p:cNvSpPr>
            <p:nvPr/>
          </p:nvSpPr>
          <p:spPr bwMode="auto">
            <a:xfrm>
              <a:off x="768" y="3576"/>
              <a:ext cx="518" cy="19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9</a:t>
              </a:r>
            </a:p>
          </p:txBody>
        </p:sp>
        <p:sp>
          <p:nvSpPr>
            <p:cNvPr id="586852" name="Rectangle 100"/>
            <p:cNvSpPr>
              <a:spLocks noChangeArrowheads="1"/>
            </p:cNvSpPr>
            <p:nvPr/>
          </p:nvSpPr>
          <p:spPr bwMode="auto">
            <a:xfrm>
              <a:off x="772" y="3832"/>
              <a:ext cx="173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3</a:t>
              </a:r>
            </a:p>
          </p:txBody>
        </p:sp>
      </p:grpSp>
      <p:sp>
        <p:nvSpPr>
          <p:cNvPr id="586853" name="Rectangle 101"/>
          <p:cNvSpPr>
            <a:spLocks noChangeArrowheads="1"/>
          </p:cNvSpPr>
          <p:nvPr/>
        </p:nvSpPr>
        <p:spPr bwMode="auto">
          <a:xfrm>
            <a:off x="1644650" y="6080136"/>
            <a:ext cx="287338" cy="304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</a:t>
            </a:r>
          </a:p>
        </p:txBody>
      </p:sp>
      <p:sp>
        <p:nvSpPr>
          <p:cNvPr id="586854" name="Rectangle 102"/>
          <p:cNvSpPr>
            <a:spLocks noChangeArrowheads="1"/>
          </p:cNvSpPr>
          <p:nvPr/>
        </p:nvSpPr>
        <p:spPr bwMode="auto">
          <a:xfrm>
            <a:off x="1911350" y="6080136"/>
            <a:ext cx="287338" cy="304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</a:t>
            </a:r>
          </a:p>
        </p:txBody>
      </p:sp>
      <p:sp>
        <p:nvSpPr>
          <p:cNvPr id="586855" name="Text Box 103"/>
          <p:cNvSpPr txBox="1">
            <a:spLocks noChangeArrowheads="1"/>
          </p:cNvSpPr>
          <p:nvPr/>
        </p:nvSpPr>
        <p:spPr bwMode="auto">
          <a:xfrm>
            <a:off x="2743200" y="6065850"/>
            <a:ext cx="6858000" cy="4062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85000"/>
              </a:lnSpc>
              <a:spcAft>
                <a:spcPct val="50000"/>
              </a:spcAft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Because there is no remainder, the answer is 3.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CFB8C1-9684-BAEC-895A-AF9E4ED88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1008" y="3091265"/>
            <a:ext cx="2792392" cy="255454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int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gcd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(int x, int y)</a:t>
            </a:r>
            <a:r>
              <a:rPr lang="en-US" sz="9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int r = x % y;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while (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r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!= 0)</a:t>
            </a:r>
            <a:r>
              <a:rPr lang="en-US" sz="9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  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x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y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  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y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r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  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r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x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%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y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   return </a:t>
            </a:r>
            <a:r>
              <a:rPr lang="en-US" sz="1600" b="0" dirty="0" err="1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y</a:t>
            </a: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sz="1600" b="0" dirty="0">
                <a:solidFill>
                  <a:srgbClr val="0000FF"/>
                </a:solidFill>
                <a:latin typeface="Courier New" panose="02070309020205020404" pitchFamily="49" charset="0"/>
                <a:ea typeface="Microsoft YaHei Light" panose="020B0503020204020204" pitchFamily="34" charset="-122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63" grpId="0" animBg="1"/>
      <p:bldP spid="586764" grpId="0" animBg="1"/>
      <p:bldP spid="586816" grpId="0" animBg="1"/>
      <p:bldP spid="586843" grpId="0" animBg="1"/>
      <p:bldP spid="586846" grpId="0" animBg="1"/>
      <p:bldP spid="586853" grpId="0" animBg="1"/>
      <p:bldP spid="586854" grpId="0" animBg="1"/>
      <p:bldP spid="586855" grpId="0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1D63F99-F2CD-C540-FEE7-86E016686E70}"/>
              </a:ext>
            </a:extLst>
          </p:cNvPr>
          <p:cNvSpPr txBox="1"/>
          <p:nvPr/>
        </p:nvSpPr>
        <p:spPr>
          <a:xfrm>
            <a:off x="838200" y="1447800"/>
            <a:ext cx="811276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main()</a:t>
            </a:r>
          </a:p>
          <a:p>
            <a:pPr>
              <a:lnSpc>
                <a:spcPts val="1575"/>
              </a:lnSpc>
            </a:pP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endParaRPr lang="en" altLang="zh-CN" b="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lvl="1">
              <a:lnSpc>
                <a:spcPts val="1575"/>
              </a:lnSpc>
            </a:pP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=10;</a:t>
            </a:r>
          </a:p>
          <a:p>
            <a:pPr lvl="1">
              <a:lnSpc>
                <a:spcPts val="1575"/>
              </a:lnSpc>
            </a:pP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 m=++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; // m =11,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=11;</a:t>
            </a:r>
          </a:p>
          <a:p>
            <a:pPr lvl="1">
              <a:lnSpc>
                <a:spcPts val="1575"/>
              </a:lnSpc>
            </a:pPr>
            <a:endParaRPr lang="en" altLang="zh-CN" b="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=10;</a:t>
            </a:r>
          </a:p>
          <a:p>
            <a:pPr lvl="1">
              <a:lnSpc>
                <a:spcPts val="1575"/>
              </a:lnSpc>
            </a:pP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 n =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++; // n=10,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=11;</a:t>
            </a:r>
          </a:p>
          <a:p>
            <a:pPr lvl="1">
              <a:lnSpc>
                <a:spcPts val="1575"/>
              </a:lnSpc>
            </a:pPr>
            <a:endParaRPr lang="en" altLang="zh-CN" b="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=10;</a:t>
            </a: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++; //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=11, execute the function operator++(int), ignore the return</a:t>
            </a:r>
          </a:p>
          <a:p>
            <a:pPr lvl="1">
              <a:lnSpc>
                <a:spcPts val="1575"/>
              </a:lnSpc>
            </a:pP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++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; //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=11, execute the function operator++(), ignore the return</a:t>
            </a:r>
          </a:p>
          <a:p>
            <a:pPr lvl="1">
              <a:lnSpc>
                <a:spcPts val="1575"/>
              </a:lnSpc>
            </a:pPr>
            <a:endParaRPr lang="en" altLang="zh-CN" b="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lvl="1">
              <a:lnSpc>
                <a:spcPts val="1575"/>
              </a:lnSpc>
            </a:pP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A[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11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12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13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14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15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17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18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19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lvl="1">
              <a:lnSpc>
                <a:spcPts val="1575"/>
              </a:lnSpc>
            </a:pPr>
            <a:b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;)</a:t>
            </a: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8080"/>
                </a:solidFill>
                <a:latin typeface="Menlo" panose="020B06090308040202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A[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++] </a:t>
            </a:r>
            <a:r>
              <a:rPr lang="en" altLang="zh-CN" b="0" dirty="0">
                <a:solidFill>
                  <a:srgbClr val="008080"/>
                </a:solidFill>
                <a:latin typeface="Menlo" panose="020B06090308040202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A31515"/>
                </a:solidFill>
                <a:latin typeface="Menlo" panose="020B0609030804020204" pitchFamily="49" charset="0"/>
              </a:rPr>
              <a:t>','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8080"/>
                </a:solidFill>
                <a:latin typeface="Menlo" panose="020B06090308040202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             </a:t>
            </a:r>
          </a:p>
          <a:p>
            <a:pPr lvl="1">
              <a:lnSpc>
                <a:spcPts val="1575"/>
              </a:lnSpc>
            </a:pPr>
            <a:b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b="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;)</a:t>
            </a: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8080"/>
                </a:solidFill>
                <a:latin typeface="Menlo" panose="020B06090308040202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A[++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] </a:t>
            </a:r>
            <a:r>
              <a:rPr lang="en" altLang="zh-CN" b="0" dirty="0">
                <a:solidFill>
                  <a:srgbClr val="008080"/>
                </a:solidFill>
                <a:latin typeface="Menlo" panose="020B06090308040202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A31515"/>
                </a:solidFill>
                <a:latin typeface="Menlo" panose="020B0609030804020204" pitchFamily="49" charset="0"/>
              </a:rPr>
              <a:t>','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575"/>
              </a:lnSpc>
            </a:pP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008080"/>
                </a:solidFill>
                <a:latin typeface="Menlo" panose="020B06090308040202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575"/>
              </a:lnSpc>
            </a:pPr>
            <a:r>
              <a:rPr lang="en" altLang="zh-CN" b="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AE399B-48B3-B9F8-89F2-09361C830513}"/>
              </a:ext>
            </a:extLst>
          </p:cNvPr>
          <p:cNvSpPr txBox="1"/>
          <p:nvPr/>
        </p:nvSpPr>
        <p:spPr>
          <a:xfrm>
            <a:off x="4589781" y="4191000"/>
            <a:ext cx="391250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 altLang="zh-CN" b="0" dirty="0">
                <a:latin typeface="Menlo" panose="020B0609030804020204" pitchFamily="49" charset="0"/>
              </a:rPr>
              <a:t>10, 11, 12, 13, 14, 15, 16, 17, 18,</a:t>
            </a:r>
          </a:p>
          <a:p>
            <a:endParaRPr kumimoji="1" lang="en" altLang="zh-CN" b="0" dirty="0">
              <a:latin typeface="Menlo" panose="020B060903080402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9658DD-1624-EABC-AA1A-3D484727BFB8}"/>
              </a:ext>
            </a:extLst>
          </p:cNvPr>
          <p:cNvSpPr txBox="1"/>
          <p:nvPr/>
        </p:nvSpPr>
        <p:spPr>
          <a:xfrm>
            <a:off x="4599941" y="5029200"/>
            <a:ext cx="391250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" altLang="zh-CN" b="0" dirty="0">
                <a:latin typeface="Menlo" panose="020B0609030804020204" pitchFamily="49" charset="0"/>
              </a:rPr>
              <a:t>11, 12, 13, 14, 15, 16, 17, 18,19,</a:t>
            </a:r>
          </a:p>
          <a:p>
            <a:endParaRPr kumimoji="1" lang="en-US" altLang="zh-CN" b="0" dirty="0">
              <a:latin typeface="Menlo" panose="020B0609030804020204" pitchFamily="49" charset="0"/>
            </a:endParaRPr>
          </a:p>
          <a:p>
            <a:endParaRPr kumimoji="1" lang="en" altLang="zh-CN" b="0" dirty="0">
              <a:latin typeface="Menlo" panose="020B0609030804020204" pitchFamily="49" charset="0"/>
            </a:endParaRP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0DB1A50F-A7E0-5BAA-9A3E-B8B222404301}"/>
              </a:ext>
            </a:extLst>
          </p:cNvPr>
          <p:cNvSpPr/>
          <p:nvPr/>
        </p:nvSpPr>
        <p:spPr bwMode="auto">
          <a:xfrm>
            <a:off x="4132580" y="4458256"/>
            <a:ext cx="3048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3185C5D8-BF20-5B4D-E9A9-6AA5A9E4B76E}"/>
              </a:ext>
            </a:extLst>
          </p:cNvPr>
          <p:cNvSpPr/>
          <p:nvPr/>
        </p:nvSpPr>
        <p:spPr bwMode="auto">
          <a:xfrm>
            <a:off x="4132580" y="5332492"/>
            <a:ext cx="3048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1E27000-3BE0-828B-0C2D-197DE4061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7289"/>
            <a:ext cx="10896600" cy="1143000"/>
          </a:xfrm>
          <a:noFill/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pre- and post-incremental operators</a:t>
            </a:r>
            <a:endParaRPr lang="en-US" sz="4000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496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36635" y="635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Enhancements to Functions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459784" y="1371600"/>
            <a:ext cx="11046416" cy="4711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can be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overloaded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which means that you can define several different functions with the same name as long as the correct version can be determined by looking at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number and types of the arguments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pattern of arguments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(i.e., 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number and types of the arguments but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not the parameter names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 required for a particular function is called its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signature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primary advantage of using overloading is that doing so makes it easier for you as a programmer to keep track of different function names for the same operation when it is applied in slightly different contexts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9451"/>
            <a:ext cx="10820400" cy="1143000"/>
          </a:xfrm>
          <a:noFill/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Exercise: function overloading and signature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1905000"/>
            <a:ext cx="5486400" cy="4276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#include &lt;iostream&gt;</a:t>
            </a:r>
          </a:p>
          <a:p>
            <a:pPr>
              <a:defRPr/>
            </a:pPr>
            <a:endParaRPr lang="en-US" altLang="zh-CN" sz="16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add1(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x);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double add1(double x);</a:t>
            </a:r>
          </a:p>
          <a:p>
            <a:pPr>
              <a:defRPr/>
            </a:pPr>
            <a:endParaRPr lang="en-US" altLang="zh-CN" sz="1600" dirty="0">
              <a:solidFill>
                <a:srgbClr val="0000FF"/>
              </a:solidFill>
              <a:latin typeface="Courier New" panose="02070309020205020404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int main() {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double x;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std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::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cin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&gt;&gt; x;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std::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cout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&lt;&lt; add1(x)/4;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return 0;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add1(</a:t>
            </a: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charset="0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y) {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return y + 1;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double add1(double x) {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   return x + 1;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  <a:endParaRPr lang="en-US" altLang="zh-CN" sz="1800" dirty="0">
              <a:solidFill>
                <a:srgbClr val="0000FF"/>
              </a:solidFill>
              <a:latin typeface="Courier New" panose="0207030902020502040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1204894"/>
            <a:ext cx="8128000" cy="444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If we input 1 or 1.0 in each case, what is the output?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3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8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2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3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9" dur="1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1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1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1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1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9" dur="1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1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1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12835" y="635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Enhancements to Functions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990600" y="1143000"/>
            <a:ext cx="10820400" cy="5092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Functions can specify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optional parameters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by including an initializer after the variable name in the function prototype.  For example, the function prototype</a:t>
            </a:r>
            <a:b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r>
              <a:rPr lang="en-US" altLang="zh-CN" sz="2400" b="0" dirty="0" err="1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indicates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that </a:t>
            </a:r>
            <a:r>
              <a:rPr lang="en-US" altLang="zh-CN" sz="2000" b="0" dirty="0" err="1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setMargin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takes an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optional argument 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that defaults to 72.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Define a procedure </a:t>
            </a:r>
            <a:r>
              <a:rPr lang="en-US" altLang="zh-CN" sz="20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setInitialLocation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that takes an </a:t>
            </a:r>
            <a:r>
              <a:rPr lang="en-US" altLang="zh-CN" sz="20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and a </a:t>
            </a:r>
            <a:r>
              <a:rPr lang="en-US" altLang="zh-CN" sz="20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y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coordinate as arguments:</a:t>
            </a:r>
            <a:b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endParaRPr lang="en-US" altLang="zh-CN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Giving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default values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to the parameters makes them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optional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: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543300" y="2269473"/>
            <a:ext cx="5105400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void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 charset="0"/>
              </a:rPr>
              <a:t>setMargin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(int margin = 72);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2628326" y="4180672"/>
            <a:ext cx="693534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altLang="zh-CN" sz="2000" dirty="0">
                <a:solidFill>
                  <a:srgbClr val="0000FF"/>
                </a:solidFill>
                <a:latin typeface="Courier New" panose="02070309020205020404" charset="0"/>
              </a:rPr>
              <a:t>void setInitialLocation(double x, double y);</a:t>
            </a:r>
            <a:endParaRPr lang="en-US" altLang="zh-CN" sz="2000" dirty="0">
              <a:solidFill>
                <a:srgbClr val="0000FF"/>
              </a:solidFill>
              <a:latin typeface="Courier New" panose="02070309020205020404" charset="0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2010288" y="5532610"/>
            <a:ext cx="8171419" cy="364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>
              <a:lnSpc>
                <a:spcPct val="85000"/>
              </a:lnSpc>
            </a:pPr>
            <a:r>
              <a:rPr lang="fr-FR" altLang="zh-CN" sz="2000" dirty="0">
                <a:solidFill>
                  <a:srgbClr val="0000FF"/>
                </a:solidFill>
                <a:latin typeface="Courier New" panose="02070309020205020404" charset="0"/>
              </a:rPr>
              <a:t>void setInitialLocation(double x = 0, double y = 0);</a:t>
            </a:r>
            <a:endParaRPr lang="en-US" altLang="zh-CN" sz="2000" dirty="0">
              <a:solidFill>
                <a:srgbClr val="0000FF"/>
              </a:solidFill>
              <a:latin typeface="Courier New" panose="020703090202050204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2601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Enhancements to Functions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85731" name="Rectangle 3"/>
          <p:cNvSpPr>
            <a:spLocks noChangeArrowheads="1"/>
          </p:cNvSpPr>
          <p:nvPr/>
        </p:nvSpPr>
        <p:spPr bwMode="auto">
          <a:xfrm>
            <a:off x="796244" y="1192355"/>
            <a:ext cx="10786156" cy="4864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When you use default values for optional parameters, it helps to keep the following rules in mind:</a:t>
            </a:r>
          </a:p>
          <a:p>
            <a:pPr marL="800100" lvl="1" indent="-342900">
              <a:lnSpc>
                <a:spcPct val="85000"/>
              </a:lnSpc>
              <a:spcAft>
                <a:spcPts val="1200"/>
              </a:spcAft>
              <a:buFont typeface="Times New Roman" panose="02020603050405020304" charset="0"/>
              <a:buChar char="‒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specification of the default values (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default arguments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 appears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only in the function prototype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and not in the function definition.</a:t>
            </a:r>
          </a:p>
          <a:p>
            <a:pPr marL="800100" lvl="1" indent="-342900">
              <a:lnSpc>
                <a:spcPct val="85000"/>
              </a:lnSpc>
              <a:spcAft>
                <a:spcPts val="1200"/>
              </a:spcAft>
              <a:buFont typeface="Times New Roman" panose="02020603050405020304" charset="0"/>
              <a:buChar char="‒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Any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optional parameters must appear at the end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of the parameter list.  No required parameters may appear after an optional one.</a:t>
            </a:r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C9C90E06-2160-C2A5-55BA-2046D1460A36}"/>
              </a:ext>
            </a:extLst>
          </p:cNvPr>
          <p:cNvSpPr/>
          <p:nvPr/>
        </p:nvSpPr>
        <p:spPr>
          <a:xfrm>
            <a:off x="1913373" y="4179088"/>
            <a:ext cx="8171419" cy="364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>
              <a:lnSpc>
                <a:spcPct val="85000"/>
              </a:lnSpc>
            </a:pPr>
            <a:r>
              <a:rPr lang="fr-FR" altLang="zh-CN" sz="2000" dirty="0">
                <a:solidFill>
                  <a:srgbClr val="0000FF"/>
                </a:solidFill>
                <a:latin typeface="Courier New" panose="02070309020205020404" charset="0"/>
              </a:rPr>
              <a:t>void setInitialLocation(double x, double y = 0);</a:t>
            </a:r>
            <a:endParaRPr lang="en-US" altLang="zh-CN" sz="2000" dirty="0">
              <a:solidFill>
                <a:srgbClr val="0000FF"/>
              </a:solidFill>
              <a:latin typeface="Courier New" panose="0207030902020502040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B024B4-5A2A-478E-57A8-62707FA31CEA}"/>
              </a:ext>
            </a:extLst>
          </p:cNvPr>
          <p:cNvSpPr txBox="1"/>
          <p:nvPr/>
        </p:nvSpPr>
        <p:spPr>
          <a:xfrm>
            <a:off x="4838699" y="4853888"/>
            <a:ext cx="236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required parameters 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5F65E3-3981-0271-EF70-61DF72B4F4C2}"/>
              </a:ext>
            </a:extLst>
          </p:cNvPr>
          <p:cNvSpPr txBox="1"/>
          <p:nvPr/>
        </p:nvSpPr>
        <p:spPr>
          <a:xfrm>
            <a:off x="7620000" y="4876800"/>
            <a:ext cx="236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000000"/>
                </a:solidFill>
              </a:rPr>
              <a:t>optional parameters </a:t>
            </a:r>
            <a:endParaRPr lang="zh-CN" altLang="en-US" sz="2000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3A64F32B-B081-F4C9-C7BE-A7F39963EBB6}"/>
              </a:ext>
            </a:extLst>
          </p:cNvPr>
          <p:cNvCxnSpPr>
            <a:cxnSpLocks/>
            <a:stCxn id="4" idx="0"/>
          </p:cNvCxnSpPr>
          <p:nvPr/>
        </p:nvCxnSpPr>
        <p:spPr bwMode="auto">
          <a:xfrm flipV="1">
            <a:off x="6019799" y="4464130"/>
            <a:ext cx="609600" cy="3897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B1D910C2-5736-50A2-AEAF-57309C10F09B}"/>
              </a:ext>
            </a:extLst>
          </p:cNvPr>
          <p:cNvCxnSpPr>
            <a:cxnSpLocks/>
            <a:stCxn id="5" idx="0"/>
          </p:cNvCxnSpPr>
          <p:nvPr/>
        </p:nvCxnSpPr>
        <p:spPr bwMode="auto">
          <a:xfrm flipH="1" flipV="1">
            <a:off x="8538452" y="4507644"/>
            <a:ext cx="262649" cy="3691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9144000" cy="1143000"/>
          </a:xfrm>
          <a:noFill/>
        </p:spPr>
        <p:txBody>
          <a:bodyPr/>
          <a:lstStyle/>
          <a:p>
            <a:r>
              <a:rPr lang="en-US" altLang="zh-CN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Exercise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838200" y="1295400"/>
            <a:ext cx="10134600" cy="38687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50000"/>
              </a:spcAft>
              <a:buFont typeface="Arial" panose="020B0604020202020204" pitchFamily="34" charset="0"/>
              <a:buChar char="•"/>
              <a:defRPr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 the above example,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if the user only provides one argument, it will be assigned to the first parameter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What shall we do if we want to keep the users from calling </a:t>
            </a:r>
            <a:r>
              <a:rPr lang="en-US" sz="20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setInitialLocation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with only one argument (i.e., the user can provide 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either all arguments or 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no arguments at all)?</a:t>
            </a: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Using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overloading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to implement default arguments:</a:t>
            </a:r>
          </a:p>
        </p:txBody>
      </p:sp>
      <p:sp>
        <p:nvSpPr>
          <p:cNvPr id="25" name="TextBox 10"/>
          <p:cNvSpPr txBox="1"/>
          <p:nvPr/>
        </p:nvSpPr>
        <p:spPr>
          <a:xfrm>
            <a:off x="2010291" y="4069884"/>
            <a:ext cx="8171419" cy="14927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void setInitialLocation(double x, double y);</a:t>
            </a:r>
          </a:p>
          <a:p>
            <a:pPr algn="just"/>
            <a:endParaRPr lang="fr-FR" altLang="zh-CN" sz="2000" b="0" dirty="0">
              <a:solidFill>
                <a:srgbClr val="0000FF"/>
              </a:solidFill>
              <a:latin typeface="Courier New" panose="02070309020205020404" charset="0"/>
            </a:endParaRPr>
          </a:p>
          <a:p>
            <a:pPr algn="just">
              <a:lnSpc>
                <a:spcPct val="85000"/>
              </a:lnSpc>
            </a:pPr>
            <a:r>
              <a:rPr lang="fr-FR" altLang="zh-CN" sz="2000" b="0" dirty="0" err="1">
                <a:solidFill>
                  <a:srgbClr val="0000FF"/>
                </a:solidFill>
                <a:latin typeface="Courier New" panose="02070309020205020404" charset="0"/>
              </a:rPr>
              <a:t>void</a:t>
            </a:r>
            <a:r>
              <a:rPr lang="fr-FR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fr-FR" altLang="zh-CN" sz="2000" b="0" dirty="0" err="1">
                <a:solidFill>
                  <a:srgbClr val="0000FF"/>
                </a:solidFill>
                <a:latin typeface="Courier New" panose="02070309020205020404" charset="0"/>
              </a:rPr>
              <a:t>setInitialLocation</a:t>
            </a:r>
            <a:r>
              <a:rPr lang="fr-FR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(</a:t>
            </a:r>
            <a:r>
              <a:rPr lang="en-US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) {</a:t>
            </a:r>
          </a:p>
          <a:p>
            <a:pPr algn="just">
              <a:lnSpc>
                <a:spcPct val="85000"/>
              </a:lnSpc>
            </a:pPr>
            <a:r>
              <a:rPr lang="en-US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   </a:t>
            </a:r>
            <a:r>
              <a:rPr lang="en-US" altLang="zh-CN" sz="2000" b="0" dirty="0" err="1">
                <a:solidFill>
                  <a:srgbClr val="0000FF"/>
                </a:solidFill>
                <a:latin typeface="Courier New" panose="02070309020205020404" charset="0"/>
              </a:rPr>
              <a:t>setInitialLocation</a:t>
            </a:r>
            <a:r>
              <a:rPr lang="en-US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(</a:t>
            </a:r>
            <a:r>
              <a:rPr lang="fr-FR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0, 0);</a:t>
            </a:r>
          </a:p>
          <a:p>
            <a:pPr algn="just">
              <a:lnSpc>
                <a:spcPct val="85000"/>
              </a:lnSpc>
            </a:pPr>
            <a:r>
              <a:rPr lang="en-US" altLang="zh-CN" sz="2000" b="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  <a:endParaRPr lang="fr-FR" altLang="zh-CN" sz="2000" b="0" dirty="0">
              <a:solidFill>
                <a:srgbClr val="0000FF"/>
              </a:solidFill>
              <a:latin typeface="Courier New" panose="02070309020205020404" charset="0"/>
            </a:endParaRPr>
          </a:p>
        </p:txBody>
      </p:sp>
      <p:sp>
        <p:nvSpPr>
          <p:cNvPr id="5" name="矩形 3"/>
          <p:cNvSpPr/>
          <p:nvPr/>
        </p:nvSpPr>
        <p:spPr>
          <a:xfrm>
            <a:off x="2010291" y="1311620"/>
            <a:ext cx="8171419" cy="364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>
              <a:lnSpc>
                <a:spcPct val="85000"/>
              </a:lnSpc>
            </a:pPr>
            <a:r>
              <a:rPr lang="fr-FR" altLang="zh-CN" sz="2000" b="0" dirty="0">
                <a:solidFill>
                  <a:srgbClr val="0000FF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void setInitialLocation(double x = 0, double y = 0);</a:t>
            </a:r>
            <a:endParaRPr lang="en-US" altLang="zh-CN" sz="2000" b="0" dirty="0">
              <a:solidFill>
                <a:srgbClr val="0000FF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8494" y="63501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Combinations and Factorials  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606211" name="Rectangle 3"/>
          <p:cNvSpPr>
            <a:spLocks noChangeArrowheads="1"/>
          </p:cNvSpPr>
          <p:nvPr/>
        </p:nvSpPr>
        <p:spPr bwMode="auto">
          <a:xfrm>
            <a:off x="400447" y="1206501"/>
            <a:ext cx="11391106" cy="5092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Aft>
                <a:spcPts val="1200"/>
              </a:spcAft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Fortunately, mathematics provides an easier way to compute the combinations function than by counting all the ways.  The value of the combinations function is given by the formula:</a:t>
            </a:r>
          </a:p>
          <a:p>
            <a:pPr marL="342900" indent="-342900">
              <a:spcAft>
                <a:spcPts val="1200"/>
              </a:spcAft>
              <a:buFontTx/>
              <a:buChar char="•"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spcAft>
                <a:spcPts val="1200"/>
              </a:spcAft>
              <a:buFontTx/>
              <a:buChar char="•"/>
            </a:pP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Decompose 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combinations into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factorials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From the top level, the combination function needs a factorial function.  Given that you already have a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fact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function, it is easy to turn this formula directly into a C++ function, as follows: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419600" y="2362201"/>
            <a:ext cx="3352800" cy="952501"/>
            <a:chOff x="2667000" y="2171700"/>
            <a:chExt cx="3352800" cy="952501"/>
          </a:xfrm>
        </p:grpSpPr>
        <p:sp>
          <p:nvSpPr>
            <p:cNvPr id="3" name="Rectangle 2"/>
            <p:cNvSpPr/>
            <p:nvPr/>
          </p:nvSpPr>
          <p:spPr bwMode="auto">
            <a:xfrm>
              <a:off x="2667000" y="2209801"/>
              <a:ext cx="3352800" cy="914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06212" name="Rectangle 4"/>
            <p:cNvSpPr>
              <a:spLocks noChangeArrowheads="1"/>
            </p:cNvSpPr>
            <p:nvPr/>
          </p:nvSpPr>
          <p:spPr bwMode="auto">
            <a:xfrm>
              <a:off x="2743200" y="2374900"/>
              <a:ext cx="1449388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0" i="1" dirty="0">
                  <a:solidFill>
                    <a:srgbClr val="0000FF"/>
                  </a:solidFill>
                </a:rPr>
                <a:t>C</a:t>
              </a:r>
              <a:r>
                <a:rPr lang="en-US" sz="2400" b="0" dirty="0">
                  <a:solidFill>
                    <a:srgbClr val="0000FF"/>
                  </a:solidFill>
                </a:rPr>
                <a:t>(</a:t>
              </a:r>
              <a:r>
                <a:rPr lang="en-US" sz="2400" b="0" i="1" dirty="0">
                  <a:solidFill>
                    <a:srgbClr val="0000FF"/>
                  </a:solidFill>
                </a:rPr>
                <a:t>n,</a:t>
              </a:r>
              <a:r>
                <a:rPr lang="en-US" sz="600" b="0" i="1" dirty="0">
                  <a:solidFill>
                    <a:srgbClr val="0000FF"/>
                  </a:solidFill>
                </a:rPr>
                <a:t> </a:t>
              </a:r>
              <a:r>
                <a:rPr lang="en-US" sz="2400" b="0" i="1" dirty="0">
                  <a:solidFill>
                    <a:srgbClr val="0000FF"/>
                  </a:solidFill>
                </a:rPr>
                <a:t>k</a:t>
              </a:r>
              <a:r>
                <a:rPr lang="en-US" sz="2400" b="0" dirty="0">
                  <a:solidFill>
                    <a:srgbClr val="0000FF"/>
                  </a:solidFill>
                </a:rPr>
                <a:t>)  =  </a:t>
              </a:r>
            </a:p>
          </p:txBody>
        </p:sp>
        <p:sp>
          <p:nvSpPr>
            <p:cNvPr id="606213" name="Line 5"/>
            <p:cNvSpPr>
              <a:spLocks noChangeShapeType="1"/>
            </p:cNvSpPr>
            <p:nvPr/>
          </p:nvSpPr>
          <p:spPr bwMode="auto">
            <a:xfrm>
              <a:off x="4191000" y="26035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06214" name="Rectangle 6"/>
            <p:cNvSpPr>
              <a:spLocks noChangeArrowheads="1"/>
            </p:cNvSpPr>
            <p:nvPr/>
          </p:nvSpPr>
          <p:spPr bwMode="auto">
            <a:xfrm>
              <a:off x="4743450" y="2171700"/>
              <a:ext cx="45720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0" i="1" dirty="0">
                  <a:solidFill>
                    <a:srgbClr val="0000FF"/>
                  </a:solidFill>
                </a:rPr>
                <a:t>n</a:t>
              </a:r>
              <a:r>
                <a:rPr lang="en-US" sz="600" b="0" i="1" dirty="0">
                  <a:solidFill>
                    <a:srgbClr val="0000FF"/>
                  </a:solidFill>
                </a:rPr>
                <a:t> </a:t>
              </a:r>
              <a:r>
                <a:rPr lang="en-US" sz="2400" b="0" dirty="0">
                  <a:solidFill>
                    <a:srgbClr val="0000FF"/>
                  </a:solidFill>
                </a:rPr>
                <a:t>!</a:t>
              </a:r>
            </a:p>
          </p:txBody>
        </p:sp>
        <p:sp>
          <p:nvSpPr>
            <p:cNvPr id="606215" name="Rectangle 7"/>
            <p:cNvSpPr>
              <a:spLocks noChangeArrowheads="1"/>
            </p:cNvSpPr>
            <p:nvPr/>
          </p:nvSpPr>
          <p:spPr bwMode="auto">
            <a:xfrm>
              <a:off x="4241800" y="2603500"/>
              <a:ext cx="439738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0" i="1" dirty="0">
                  <a:solidFill>
                    <a:srgbClr val="0000FF"/>
                  </a:solidFill>
                </a:rPr>
                <a:t>k</a:t>
              </a:r>
              <a:r>
                <a:rPr lang="en-US" sz="600" b="0" i="1" dirty="0">
                  <a:solidFill>
                    <a:srgbClr val="0000FF"/>
                  </a:solidFill>
                </a:rPr>
                <a:t> </a:t>
              </a:r>
              <a:r>
                <a:rPr lang="en-US" sz="2400" b="0" dirty="0">
                  <a:solidFill>
                    <a:srgbClr val="0000FF"/>
                  </a:solidFill>
                </a:rPr>
                <a:t>!</a:t>
              </a:r>
            </a:p>
          </p:txBody>
        </p:sp>
        <p:sp>
          <p:nvSpPr>
            <p:cNvPr id="606216" name="Rectangle 8"/>
            <p:cNvSpPr>
              <a:spLocks noChangeArrowheads="1"/>
            </p:cNvSpPr>
            <p:nvPr/>
          </p:nvSpPr>
          <p:spPr bwMode="auto">
            <a:xfrm>
              <a:off x="4832350" y="2603500"/>
              <a:ext cx="101600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0" dirty="0">
                  <a:solidFill>
                    <a:srgbClr val="0000FF"/>
                  </a:solidFill>
                </a:rPr>
                <a:t>(</a:t>
              </a:r>
              <a:r>
                <a:rPr lang="en-US" sz="2400" b="0" i="1" dirty="0">
                  <a:solidFill>
                    <a:srgbClr val="0000FF"/>
                  </a:solidFill>
                </a:rPr>
                <a:t>n</a:t>
              </a:r>
              <a:r>
                <a:rPr lang="en-US" sz="600" b="0" i="1" dirty="0">
                  <a:solidFill>
                    <a:srgbClr val="0000FF"/>
                  </a:solidFill>
                </a:rPr>
                <a:t> </a:t>
              </a:r>
              <a:r>
                <a:rPr lang="en-US" sz="2400" b="0" dirty="0">
                  <a:solidFill>
                    <a:srgbClr val="0000FF"/>
                  </a:solidFill>
                  <a:latin typeface="Courier New" panose="02070309020205020404" charset="0"/>
                </a:rPr>
                <a:t>–</a:t>
              </a:r>
              <a:r>
                <a:rPr lang="en-US" sz="600" b="0" i="1" dirty="0">
                  <a:solidFill>
                    <a:srgbClr val="0000FF"/>
                  </a:solidFill>
                </a:rPr>
                <a:t> </a:t>
              </a:r>
              <a:r>
                <a:rPr lang="en-US" sz="2400" b="0" i="1" dirty="0">
                  <a:solidFill>
                    <a:srgbClr val="0000FF"/>
                  </a:solidFill>
                </a:rPr>
                <a:t>k</a:t>
              </a:r>
              <a:r>
                <a:rPr lang="en-US" sz="2400" b="0" dirty="0">
                  <a:solidFill>
                    <a:srgbClr val="0000FF"/>
                  </a:solidFill>
                </a:rPr>
                <a:t>)</a:t>
              </a:r>
              <a:r>
                <a:rPr lang="en-US" sz="600" b="0" i="1" dirty="0">
                  <a:solidFill>
                    <a:srgbClr val="0000FF"/>
                  </a:solidFill>
                </a:rPr>
                <a:t> </a:t>
              </a:r>
              <a:r>
                <a:rPr lang="en-US" sz="2400" b="0" dirty="0">
                  <a:solidFill>
                    <a:srgbClr val="0000FF"/>
                  </a:solidFill>
                </a:rPr>
                <a:t>!</a:t>
              </a:r>
            </a:p>
          </p:txBody>
        </p:sp>
        <p:sp>
          <p:nvSpPr>
            <p:cNvPr id="606217" name="Rectangle 9"/>
            <p:cNvSpPr>
              <a:spLocks noChangeArrowheads="1"/>
            </p:cNvSpPr>
            <p:nvPr/>
          </p:nvSpPr>
          <p:spPr bwMode="auto">
            <a:xfrm>
              <a:off x="4584700" y="2657475"/>
              <a:ext cx="288925" cy="3365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Helvetica Neue" pitchFamily="1" charset="0"/>
                </a:rPr>
                <a:t>x</a:t>
              </a:r>
            </a:p>
          </p:txBody>
        </p:sp>
      </p:grpSp>
      <p:sp>
        <p:nvSpPr>
          <p:cNvPr id="606221" name="Rectangle 13"/>
          <p:cNvSpPr>
            <a:spLocks noChangeArrowheads="1"/>
          </p:cNvSpPr>
          <p:nvPr/>
        </p:nvSpPr>
        <p:spPr bwMode="auto">
          <a:xfrm>
            <a:off x="2639219" y="5105400"/>
            <a:ext cx="6913563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int combinations(int n, int k) {</a:t>
            </a:r>
          </a:p>
          <a:p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   return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 charset="0"/>
              </a:rPr>
              <a:t>fact(n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) / (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 charset="0"/>
              </a:rPr>
              <a:t>fact(k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) *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 charset="0"/>
              </a:rPr>
              <a:t>fact(n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 -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 charset="0"/>
              </a:rPr>
              <a:t>k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));</a:t>
            </a:r>
          </a:p>
          <a:p>
            <a:r>
              <a:rPr lang="en-US" sz="20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84200" y="635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Computing Factorials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91875" name="Rectangle 3"/>
          <p:cNvSpPr>
            <a:spLocks noChangeArrowheads="1"/>
          </p:cNvSpPr>
          <p:nvPr/>
        </p:nvSpPr>
        <p:spPr bwMode="auto">
          <a:xfrm>
            <a:off x="597704" y="1206500"/>
            <a:ext cx="11213296" cy="5245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factorial of a number </a:t>
            </a:r>
            <a:r>
              <a:rPr lang="en-US" sz="24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(which is usually written as </a:t>
            </a:r>
            <a:r>
              <a:rPr lang="en-US" sz="24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! in mathematics) is defined to be the product of the integers from 1 up to </a:t>
            </a:r>
            <a:r>
              <a:rPr lang="en-US" sz="24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Thus, 5! is equal to 120, which is 1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200" b="0" baseline="15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200" b="0" baseline="15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3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200" b="0" baseline="15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4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200" b="0" baseline="15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sz="1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5.</a:t>
            </a: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following function definition uses a </a:t>
            </a:r>
            <a:r>
              <a:rPr lang="en-US" altLang="zh-CN" sz="20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for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loop to compute the factorial function:</a:t>
            </a:r>
            <a:endParaRPr lang="en-US" altLang="zh-CN" sz="12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endParaRPr lang="en-US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next slide simulates the operation of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combinations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and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fact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in the context of a simple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main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function.</a:t>
            </a:r>
          </a:p>
        </p:txBody>
      </p:sp>
      <p:sp>
        <p:nvSpPr>
          <p:cNvPr id="591879" name="Rectangle 7"/>
          <p:cNvSpPr>
            <a:spLocks noChangeArrowheads="1"/>
          </p:cNvSpPr>
          <p:nvPr/>
        </p:nvSpPr>
        <p:spPr bwMode="auto">
          <a:xfrm>
            <a:off x="2801144" y="3200400"/>
            <a:ext cx="6589713" cy="2014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int fact(int n)</a:t>
            </a:r>
            <a:r>
              <a:rPr lang="en-US" sz="10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int result = 1;</a:t>
            </a: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for (int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i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= 1;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i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&lt;= n;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i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++)</a:t>
            </a:r>
            <a:r>
              <a:rPr lang="en-US" sz="1000" dirty="0">
                <a:solidFill>
                  <a:srgbClr val="0000FF"/>
                </a:solidFill>
                <a:latin typeface="Courier New" panose="02070309020205020404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   result *= 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charset="0"/>
              </a:rPr>
              <a:t>i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}</a:t>
            </a: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   return result;</a:t>
            </a: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Mechanics of Calling a Function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527365" name="Text Box 5"/>
          <p:cNvSpPr txBox="1">
            <a:spLocks noChangeArrowheads="1"/>
          </p:cNvSpPr>
          <p:nvPr/>
        </p:nvSpPr>
        <p:spPr bwMode="auto">
          <a:xfrm>
            <a:off x="609600" y="1295400"/>
            <a:ext cx="11125200" cy="49428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When you invoke a function, the following actions occur:</a:t>
            </a:r>
          </a:p>
          <a:p>
            <a:pPr marL="457200" indent="-457200">
              <a:lnSpc>
                <a:spcPct val="85000"/>
              </a:lnSpc>
              <a:spcAft>
                <a:spcPts val="1200"/>
              </a:spcAft>
              <a:buAutoNum type="arabicPeriod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calling function evaluates the argument expressions in its own context.</a:t>
            </a:r>
          </a:p>
          <a:p>
            <a:pPr marL="457200" indent="-457200">
              <a:lnSpc>
                <a:spcPct val="85000"/>
              </a:lnSpc>
              <a:spcAft>
                <a:spcPts val="1200"/>
              </a:spcAft>
              <a:buFontTx/>
              <a:buAutoNum type="arabicPeriod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then copies each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argument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value into the corresponding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parameter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variable, which is allocated in a newly assigned region of memory called a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stack frame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This assignment follows the order in which the arguments appear: the first argument is copied into the first parameter variable, and so on.  </a:t>
            </a:r>
          </a:p>
          <a:p>
            <a:pPr marL="457200" indent="-457200">
              <a:lnSpc>
                <a:spcPct val="85000"/>
              </a:lnSpc>
              <a:spcAft>
                <a:spcPts val="1200"/>
              </a:spcAft>
              <a:buFontTx/>
              <a:buAutoNum type="arabicPeriod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then evaluates the statements in the function body, using the new stack frame to look up the values of local variables. </a:t>
            </a:r>
          </a:p>
          <a:p>
            <a:pPr marL="457200" indent="-457200">
              <a:lnSpc>
                <a:spcPct val="85000"/>
              </a:lnSpc>
              <a:spcAft>
                <a:spcPts val="1200"/>
              </a:spcAft>
              <a:buFontTx/>
              <a:buAutoNum type="arabicPeriod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When C++ encounters a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return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statement, it computes the return value and substitutes that value in place of the call. </a:t>
            </a:r>
          </a:p>
          <a:p>
            <a:pPr marL="457200" indent="-457200">
              <a:lnSpc>
                <a:spcPct val="85000"/>
              </a:lnSpc>
              <a:spcAft>
                <a:spcPts val="1200"/>
              </a:spcAft>
              <a:buFontTx/>
              <a:buAutoNum type="arabicPeriod"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then discards the stack frame for the called function and returns to the caller, continuing from where it left off.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7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Exercise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85800" y="1155700"/>
            <a:ext cx="11277600" cy="5168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Write a function to swap the values of two integer variables.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Given the following function/procedure:</a:t>
            </a:r>
          </a:p>
          <a:p>
            <a:pPr marL="342265">
              <a:lnSpc>
                <a:spcPct val="85000"/>
              </a:lnSpc>
              <a:spcAft>
                <a:spcPts val="600"/>
              </a:spcAft>
            </a:pP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hat is the result of the following calling to the function:</a:t>
            </a:r>
            <a:b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and why?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reason this function does not work as expected lies in the mechanism of calling a function discussed before.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069195" y="2146361"/>
            <a:ext cx="4053610" cy="14003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void swap(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x,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y) {</a:t>
            </a:r>
          </a:p>
          <a:p>
            <a:pPr>
              <a:lnSpc>
                <a:spcPct val="85000"/>
              </a:lnSpc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int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tmp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x;</a:t>
            </a:r>
          </a:p>
          <a:p>
            <a:pPr>
              <a:lnSpc>
                <a:spcPct val="85000"/>
              </a:lnSpc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tmp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4533900" y="4318467"/>
            <a:ext cx="3124200" cy="6270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</a:pP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n1 = 1, n2 = 2;</a:t>
            </a:r>
          </a:p>
          <a:p>
            <a:pPr lvl="0">
              <a:lnSpc>
                <a:spcPct val="85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swap(n1, n2);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Question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600200"/>
            <a:ext cx="10744200" cy="50292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2400" kern="12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What if I want to </a:t>
            </a:r>
            <a:r>
              <a:rPr lang="en-US" altLang="zh-CN" sz="2400" kern="12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return more than one value</a:t>
            </a:r>
            <a:r>
              <a:rPr lang="en-US" altLang="zh-CN" sz="2400" kern="12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?</a:t>
            </a:r>
          </a:p>
          <a:p>
            <a:pPr marL="342265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zh-CN" sz="2400" kern="12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Using references is one approach.</a:t>
            </a:r>
          </a:p>
        </p:txBody>
      </p:sp>
      <p:sp>
        <p:nvSpPr>
          <p:cNvPr id="4" name="爆炸形: 8 pt  1"/>
          <p:cNvSpPr/>
          <p:nvPr/>
        </p:nvSpPr>
        <p:spPr bwMode="auto">
          <a:xfrm>
            <a:off x="9220200" y="0"/>
            <a:ext cx="1447800" cy="762000"/>
          </a:xfrm>
          <a:prstGeom prst="irregularSeal1">
            <a:avLst/>
          </a:prstGeom>
          <a:solidFill>
            <a:srgbClr val="00CC99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0" kern="0" dirty="0">
                <a:solidFill>
                  <a:srgbClr val="000000"/>
                </a:solidFill>
              </a:rPr>
              <a:t>Flashback</a:t>
            </a:r>
            <a:endParaRPr lang="zh-CN" altLang="en-US" sz="1200" b="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27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Reference variables in C++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81000" y="1216467"/>
            <a:ext cx="11506200" cy="5168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 reference variable is an alias, that is,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another name for an already existing variable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</a:t>
            </a:r>
            <a:endParaRPr lang="en-US" altLang="zh-CN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endParaRPr lang="en-US" altLang="zh-CN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endParaRPr lang="en-US" altLang="zh-CN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endParaRPr lang="en-US" altLang="zh-CN" sz="24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ampersand</a:t>
            </a:r>
            <a:r>
              <a:rPr lang="en-US" altLang="zh-CN" sz="2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(&amp;)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characters in these declarations indicate reference variables.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 reference must be initialized when it is declared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Once a reference is initialized with a variable, it cannot be reassigned to refer to a different variable.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Now both the variable name and the reference name may be used to refer to the same variable.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4903" y="1981201"/>
            <a:ext cx="6122194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int n1 = 1, n2 = 2;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 x = n1, 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 y = n2;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charset="0"/>
              </a:rPr>
              <a:t>// x = ?, y = ?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charset="0"/>
              </a:rPr>
              <a:t>n1 = 2, n2 = 1; </a:t>
            </a:r>
            <a:r>
              <a:rPr lang="pt-BR" altLang="zh-CN" sz="2000" dirty="0">
                <a:solidFill>
                  <a:srgbClr val="0000FF"/>
                </a:solidFill>
                <a:latin typeface="Courier New" panose="02070309020205020404" charset="0"/>
              </a:rPr>
              <a:t>// x = ?, y = ?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x = 1, y = 2;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charset="0"/>
              </a:rPr>
              <a:t>// n1 = ?, n2 = 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E2C73B-F7CD-6A43-418C-193C86475588}"/>
              </a:ext>
            </a:extLst>
          </p:cNvPr>
          <p:cNvSpPr/>
          <p:nvPr/>
        </p:nvSpPr>
        <p:spPr>
          <a:xfrm>
            <a:off x="3025760" y="1981201"/>
            <a:ext cx="6152429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int n1 = 1, n2 = 2;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int 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 x = n1, 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 y = n2;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charset="0"/>
              </a:rPr>
              <a:t>// x = 1, y = 2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charset="0"/>
              </a:rPr>
              <a:t>n1 = 2, n2 = 1; </a:t>
            </a:r>
            <a:r>
              <a:rPr lang="pt-BR" altLang="zh-CN" sz="2000" dirty="0">
                <a:solidFill>
                  <a:srgbClr val="0000FF"/>
                </a:solidFill>
                <a:latin typeface="Courier New" panose="02070309020205020404" charset="0"/>
              </a:rPr>
              <a:t>// x = 2, y = 1</a:t>
            </a:r>
          </a:p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charset="0"/>
              </a:rPr>
              <a:t>x = 1, y = 2;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charset="0"/>
              </a:rPr>
              <a:t>// n1 = 1, n2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6397" y="7716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Call by Reference Example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64162" y="1143000"/>
            <a:ext cx="10746838" cy="4330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  <a:defRPr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following function swaps the values of two integers:</a:t>
            </a:r>
            <a:b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b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</a:b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arguments to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Courier New" panose="02070309020205020404"/>
              </a:rPr>
              <a:t>swap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must be assignable objects, which for the moment means variables, but cannot be constants.</a:t>
            </a: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  <a:defRPr/>
            </a:pP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If you left out the </a:t>
            </a:r>
            <a:r>
              <a:rPr lang="en-US" altLang="zh-CN" sz="20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cs typeface="Courier New" panose="02070309020205020404"/>
              </a:rPr>
              <a:t>&amp;</a:t>
            </a:r>
            <a:r>
              <a:rPr lang="en-US" altLang="zh-CN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characters in the parameter declarations, calling this function would have no effect on the calling arguments because the function would exchange local copies.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999838" y="1828800"/>
            <a:ext cx="6278420" cy="140807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void swap(int &amp; x, int &amp; y) {</a:t>
            </a:r>
          </a:p>
          <a:p>
            <a:pPr>
              <a:lnSpc>
                <a:spcPct val="85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int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tmp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x;</a:t>
            </a:r>
          </a:p>
          <a:p>
            <a:pPr>
              <a:lnSpc>
                <a:spcPct val="85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;</a:t>
            </a:r>
          </a:p>
          <a:p>
            <a:pPr>
              <a:lnSpc>
                <a:spcPct val="85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tmp</a:t>
            </a: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;</a:t>
            </a:r>
          </a:p>
          <a:p>
            <a:pPr>
              <a:lnSpc>
                <a:spcPct val="85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Reference Parameters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7200" y="1143000"/>
            <a:ext cx="11201400" cy="5517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allows callers and functions to share information using a technique known as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call by reference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Aft>
                <a:spcPts val="6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 indicates call by reference by adding an ampersand (</a:t>
            </a:r>
            <a:r>
              <a:rPr lang="en-US" altLang="zh-CN" sz="20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&amp;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) before the parameter name.  A single function often has both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value parameters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and </a:t>
            </a:r>
            <a:r>
              <a:rPr lang="en-US" altLang="zh-CN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reference parameters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as illustrated by the </a:t>
            </a:r>
            <a:r>
              <a:rPr lang="en-US" altLang="zh-CN" sz="20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solveQuadratic</a:t>
            </a: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function: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00200" y="3124200"/>
            <a:ext cx="7642860" cy="31978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int main() {</a:t>
            </a:r>
          </a:p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double a, b, c, r1, r2;</a:t>
            </a:r>
          </a:p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getCoefficients(a, b, c);</a:t>
            </a:r>
          </a:p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solveQuadratic(a, b, c, r1, r2);</a:t>
            </a:r>
          </a:p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printRoots(r1, r2);</a:t>
            </a:r>
          </a:p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return 0;</a:t>
            </a:r>
          </a:p>
          <a:p>
            <a:pPr>
              <a:lnSpc>
                <a:spcPct val="85000"/>
              </a:lnSpc>
            </a:pPr>
            <a:r>
              <a:rPr lang="pt-BR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}</a:t>
            </a:r>
          </a:p>
          <a:p>
            <a:pPr>
              <a:lnSpc>
                <a:spcPct val="85000"/>
              </a:lnSpc>
            </a:pPr>
            <a:endParaRPr lang="en-US" dirty="0">
              <a:solidFill>
                <a:srgbClr val="0000FF"/>
              </a:solidFill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void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solveQuadratic</a:t>
            </a: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(double a, double b, double c,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                 double &amp;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r</a:t>
            </a: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1, double &amp; r2) {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if (a == 0) error("The coefficient a must be nonzero.");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double disc = b * b - 4 * a * c;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if (disc &lt; 0) error("This equation has no real roots.");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double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sqrtDisc</a:t>
            </a: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= sqrt(disc);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r1 = (-b +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sqrtDisc</a:t>
            </a: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) / (2 * a);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  r2 = (-b -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sqrtDisc</a:t>
            </a: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) / (2 * a);</a:t>
            </a:r>
          </a:p>
          <a:p>
            <a:pPr>
              <a:lnSpc>
                <a:spcPct val="85000"/>
              </a:lnSpc>
            </a:pPr>
            <a:r>
              <a:rPr lang="en-US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lang="en-US" sz="1600" dirty="0">
              <a:solidFill>
                <a:srgbClr val="0000FF"/>
              </a:solidFill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Reference Parameters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62000" y="1600200"/>
            <a:ext cx="10972800" cy="5517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Call by reference has two primary purposes:</a:t>
            </a:r>
          </a:p>
          <a:p>
            <a:pPr marL="800100" lvl="1" indent="-342900">
              <a:lnSpc>
                <a:spcPct val="85000"/>
              </a:lnSpc>
              <a:spcAft>
                <a:spcPts val="1200"/>
              </a:spcAft>
              <a:buFont typeface="Lucida Grande"/>
              <a:buChar char="−"/>
            </a:pPr>
            <a:r>
              <a:rPr lang="en-US" altLang="zh-CN" sz="2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It creates a sharing relationship that makes it possible to </a:t>
            </a:r>
            <a:r>
              <a:rPr lang="en-US" altLang="zh-CN" sz="22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pass information in both directions</a:t>
            </a:r>
            <a:r>
              <a:rPr lang="en-US" altLang="zh-CN" sz="2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through the parameter list.</a:t>
            </a:r>
          </a:p>
          <a:p>
            <a:pPr marL="800100" lvl="1" indent="-342900">
              <a:lnSpc>
                <a:spcPct val="85000"/>
              </a:lnSpc>
              <a:spcAft>
                <a:spcPts val="1200"/>
              </a:spcAft>
              <a:buFont typeface="Lucida Grande"/>
              <a:buChar char="−"/>
            </a:pPr>
            <a:r>
              <a:rPr lang="en-US" altLang="zh-CN" sz="2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It increases efficiency by </a:t>
            </a:r>
            <a:r>
              <a:rPr lang="en-US" altLang="zh-CN" sz="22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eliminating the need to copy an argument</a:t>
            </a:r>
            <a:r>
              <a:rPr lang="en-US" altLang="zh-CN" sz="22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This consideration becomes more important when the argument is a large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Reference in C++</a:t>
            </a:r>
            <a:endParaRPr lang="en-US" dirty="0">
              <a:solidFill>
                <a:schemeClr val="tx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33400" y="1295400"/>
            <a:ext cx="11430000" cy="5092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 C++, a reference is a simple reference datatype that is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less powerful but safer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than the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pointer type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inherited from C.</a:t>
            </a: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It can be considered as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 new name for an existing object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but </a:t>
            </a:r>
            <a:r>
              <a:rPr lang="en-US" sz="24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not a copy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of the object it refers to.</a:t>
            </a: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From a C++ programmer’s point of view, a reference 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does not occupy any memory space</a:t>
            </a: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; from a compiler implementer’s point of view, a reference may be implemented just like a pointer (i.e., an address), therefore it may occupy the memory space of an address.</a:t>
            </a:r>
          </a:p>
          <a:p>
            <a:pPr marL="342900" indent="-342900">
              <a:lnSpc>
                <a:spcPct val="85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We will delay the discussion of references until when we have a deeper understanding of pointers.  For now, just remember a reference is a new name of an existing object, and use call by reference to pass information in both directions</a:t>
            </a:r>
            <a:r>
              <a:rPr lang="en-US" sz="24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through the parameter list.</a:t>
            </a:r>
            <a:endParaRPr lang="en-US" sz="2400" b="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700"/>
            <a:ext cx="9144000" cy="1143000"/>
          </a:xfrm>
          <a:noFill/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Operators and Operands</a:t>
            </a:r>
            <a:endParaRPr lang="en-US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609600" y="1155700"/>
            <a:ext cx="11125200" cy="5016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As in most languages, C++ programs specify computation in the form of </a:t>
            </a:r>
            <a:r>
              <a:rPr lang="en-US" sz="24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arithmetic expressions</a:t>
            </a:r>
            <a:r>
              <a:rPr lang="en-US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that closely resemble expressions in mathematics.</a:t>
            </a:r>
            <a:endParaRPr lang="en-US" sz="200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most common operators in C++ are the ones that specify arithmetic computation: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altLang="zh-CN" sz="240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endParaRPr lang="en-US" altLang="zh-CN" sz="240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Operators in C++ usually appear between two sub-expressions, which are called its </a:t>
            </a:r>
            <a:r>
              <a:rPr lang="en-US" altLang="zh-CN" sz="24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operands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  Operators that take two operands are called </a:t>
            </a:r>
            <a:r>
              <a:rPr lang="en-US" altLang="zh-CN" sz="24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binary operators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  <a:r>
              <a:rPr lang="zh-CN" altLang="en-US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</a:t>
            </a:r>
            <a:r>
              <a:rPr lang="en-US" altLang="zh-CN" sz="36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operator can also appear as a </a:t>
            </a:r>
            <a:r>
              <a:rPr lang="en-US" altLang="zh-CN" sz="24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unary operator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as in the expression </a:t>
            </a:r>
            <a:r>
              <a:rPr lang="en-US" altLang="zh-CN" sz="36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-x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, which denotes the negative of </a:t>
            </a:r>
            <a:r>
              <a:rPr lang="en-US" altLang="zh-CN" sz="36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Tx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Operators can be overloaded/implemented to </a:t>
            </a:r>
            <a:r>
              <a:rPr lang="en-US" altLang="zh-CN" sz="240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user-defined data type</a:t>
            </a:r>
            <a:r>
              <a:rPr lang="en-US" altLang="zh-CN" sz="2400" dirty="0">
                <a:solidFill>
                  <a:srgbClr val="0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57550" y="2667000"/>
            <a:ext cx="5676900" cy="1252538"/>
            <a:chOff x="1733550" y="3037681"/>
            <a:chExt cx="5676900" cy="1252538"/>
          </a:xfrm>
        </p:grpSpPr>
        <p:sp>
          <p:nvSpPr>
            <p:cNvPr id="3" name="Rectangle 2"/>
            <p:cNvSpPr/>
            <p:nvPr/>
          </p:nvSpPr>
          <p:spPr bwMode="auto">
            <a:xfrm>
              <a:off x="1828800" y="3037681"/>
              <a:ext cx="5486400" cy="125253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2776" name="Rectangle 6"/>
            <p:cNvSpPr>
              <a:spLocks noChangeArrowheads="1"/>
            </p:cNvSpPr>
            <p:nvPr/>
          </p:nvSpPr>
          <p:spPr bwMode="auto">
            <a:xfrm>
              <a:off x="1733550" y="3067844"/>
              <a:ext cx="609600" cy="396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Courier New" panose="02070309020205020404" charset="0"/>
                </a:rPr>
                <a:t>+</a:t>
              </a:r>
              <a:endParaRPr lang="en-US" sz="2200" b="1" dirty="0">
                <a:solidFill>
                  <a:srgbClr val="000000"/>
                </a:solidFill>
                <a:latin typeface="Courier New" panose="02070309020205020404" charset="0"/>
              </a:endParaRPr>
            </a:p>
          </p:txBody>
        </p:sp>
        <p:sp>
          <p:nvSpPr>
            <p:cNvPr id="32777" name="Text Box 7"/>
            <p:cNvSpPr txBox="1">
              <a:spLocks noChangeArrowheads="1"/>
            </p:cNvSpPr>
            <p:nvPr/>
          </p:nvSpPr>
          <p:spPr bwMode="auto">
            <a:xfrm>
              <a:off x="2305050" y="3037681"/>
              <a:ext cx="160020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Addition</a:t>
              </a:r>
            </a:p>
          </p:txBody>
        </p:sp>
        <p:sp>
          <p:nvSpPr>
            <p:cNvPr id="32778" name="Rectangle 8"/>
            <p:cNvSpPr>
              <a:spLocks noChangeArrowheads="1"/>
            </p:cNvSpPr>
            <p:nvPr/>
          </p:nvSpPr>
          <p:spPr bwMode="auto">
            <a:xfrm>
              <a:off x="1733550" y="3461544"/>
              <a:ext cx="609600" cy="396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>
                  <a:solidFill>
                    <a:srgbClr val="000000"/>
                  </a:solidFill>
                  <a:latin typeface="Courier New" panose="02070309020205020404" charset="0"/>
                </a:rPr>
                <a:t>–</a:t>
              </a:r>
              <a:endParaRPr lang="en-US" sz="2200" b="1">
                <a:solidFill>
                  <a:srgbClr val="000000"/>
                </a:solidFill>
                <a:latin typeface="Courier New" panose="02070309020205020404" charset="0"/>
              </a:endParaRPr>
            </a:p>
          </p:txBody>
        </p:sp>
        <p:sp>
          <p:nvSpPr>
            <p:cNvPr id="32779" name="Text Box 9"/>
            <p:cNvSpPr txBox="1">
              <a:spLocks noChangeArrowheads="1"/>
            </p:cNvSpPr>
            <p:nvPr/>
          </p:nvSpPr>
          <p:spPr bwMode="auto">
            <a:xfrm>
              <a:off x="2305050" y="3431381"/>
              <a:ext cx="160020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Subtraction</a:t>
              </a:r>
            </a:p>
          </p:txBody>
        </p:sp>
        <p:sp>
          <p:nvSpPr>
            <p:cNvPr id="32780" name="Rectangle 10"/>
            <p:cNvSpPr>
              <a:spLocks noChangeArrowheads="1"/>
            </p:cNvSpPr>
            <p:nvPr/>
          </p:nvSpPr>
          <p:spPr bwMode="auto">
            <a:xfrm>
              <a:off x="4781550" y="3067844"/>
              <a:ext cx="609600" cy="396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>
                  <a:solidFill>
                    <a:srgbClr val="000000"/>
                  </a:solidFill>
                  <a:latin typeface="Courier New" panose="02070309020205020404" charset="0"/>
                </a:rPr>
                <a:t>*</a:t>
              </a:r>
              <a:endParaRPr lang="en-US" sz="2200" b="1">
                <a:solidFill>
                  <a:srgbClr val="000000"/>
                </a:solidFill>
                <a:latin typeface="Courier New" panose="02070309020205020404" charset="0"/>
              </a:endParaRPr>
            </a:p>
          </p:txBody>
        </p:sp>
        <p:sp>
          <p:nvSpPr>
            <p:cNvPr id="32781" name="Text Box 11"/>
            <p:cNvSpPr txBox="1">
              <a:spLocks noChangeArrowheads="1"/>
            </p:cNvSpPr>
            <p:nvPr/>
          </p:nvSpPr>
          <p:spPr bwMode="auto">
            <a:xfrm>
              <a:off x="5353050" y="3037681"/>
              <a:ext cx="205740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Multiplication</a:t>
              </a:r>
            </a:p>
          </p:txBody>
        </p:sp>
        <p:sp>
          <p:nvSpPr>
            <p:cNvPr id="32782" name="Rectangle 12"/>
            <p:cNvSpPr>
              <a:spLocks noChangeArrowheads="1"/>
            </p:cNvSpPr>
            <p:nvPr/>
          </p:nvSpPr>
          <p:spPr bwMode="auto">
            <a:xfrm>
              <a:off x="4781550" y="3461544"/>
              <a:ext cx="609600" cy="396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>
                  <a:solidFill>
                    <a:srgbClr val="000000"/>
                  </a:solidFill>
                  <a:latin typeface="Courier New" panose="02070309020205020404" charset="0"/>
                </a:rPr>
                <a:t>/</a:t>
              </a:r>
              <a:endParaRPr lang="en-US" sz="2200" b="1">
                <a:solidFill>
                  <a:srgbClr val="000000"/>
                </a:solidFill>
                <a:latin typeface="Courier New" panose="02070309020205020404" charset="0"/>
              </a:endParaRPr>
            </a:p>
          </p:txBody>
        </p:sp>
        <p:sp>
          <p:nvSpPr>
            <p:cNvPr id="32783" name="Text Box 13"/>
            <p:cNvSpPr txBox="1">
              <a:spLocks noChangeArrowheads="1"/>
            </p:cNvSpPr>
            <p:nvPr/>
          </p:nvSpPr>
          <p:spPr bwMode="auto">
            <a:xfrm>
              <a:off x="5353050" y="3431381"/>
              <a:ext cx="160020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Division</a:t>
              </a:r>
            </a:p>
          </p:txBody>
        </p:sp>
        <p:sp>
          <p:nvSpPr>
            <p:cNvPr id="32784" name="Rectangle 14"/>
            <p:cNvSpPr>
              <a:spLocks noChangeArrowheads="1"/>
            </p:cNvSpPr>
            <p:nvPr/>
          </p:nvSpPr>
          <p:spPr bwMode="auto">
            <a:xfrm>
              <a:off x="4781550" y="3863181"/>
              <a:ext cx="609600" cy="396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>
                  <a:solidFill>
                    <a:srgbClr val="000000"/>
                  </a:solidFill>
                  <a:latin typeface="Courier New" panose="02070309020205020404" charset="0"/>
                </a:rPr>
                <a:t>%</a:t>
              </a:r>
              <a:endParaRPr lang="en-US" sz="2200" b="1">
                <a:solidFill>
                  <a:srgbClr val="000000"/>
                </a:solidFill>
                <a:latin typeface="Courier New" panose="02070309020205020404" charset="0"/>
              </a:endParaRPr>
            </a:p>
          </p:txBody>
        </p:sp>
        <p:sp>
          <p:nvSpPr>
            <p:cNvPr id="32785" name="Text Box 15"/>
            <p:cNvSpPr txBox="1">
              <a:spLocks noChangeArrowheads="1"/>
            </p:cNvSpPr>
            <p:nvPr/>
          </p:nvSpPr>
          <p:spPr bwMode="auto">
            <a:xfrm>
              <a:off x="5353050" y="3833019"/>
              <a:ext cx="160020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</a:rPr>
                <a:t>Remainder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17EDFB2-0A6B-7F0C-4515-D8778280B31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2700"/>
            <a:ext cx="113538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Example</a:t>
            </a:r>
            <a:r>
              <a:rPr lang="zh-CN" alt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altLang="zh-CN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of</a:t>
            </a:r>
            <a:r>
              <a:rPr lang="zh-CN" alt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altLang="zh-CN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binary o</a:t>
            </a:r>
            <a:r>
              <a:rPr 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perators and operands</a:t>
            </a:r>
            <a:endParaRPr lang="en-US" b="0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2A373E-D9E2-D062-FF49-A438E0122BCC}"/>
              </a:ext>
            </a:extLst>
          </p:cNvPr>
          <p:cNvSpPr txBox="1"/>
          <p:nvPr/>
        </p:nvSpPr>
        <p:spPr>
          <a:xfrm>
            <a:off x="-381000" y="2057400"/>
            <a:ext cx="11353800" cy="82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" altLang="zh-CN" sz="1800" b="0" dirty="0">
              <a:solidFill>
                <a:srgbClr val="8B949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" altLang="zh-CN" sz="1800" b="0" dirty="0">
              <a:solidFill>
                <a:srgbClr val="8B949E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" altLang="zh-CN" sz="1800" b="0" dirty="0">
              <a:solidFill>
                <a:srgbClr val="8B949E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800" b="0" dirty="0">
                <a:solidFill>
                  <a:srgbClr val="8B949E"/>
                </a:solidFill>
                <a:latin typeface="Menlo" panose="020B0609030804020204" pitchFamily="49" charset="0"/>
              </a:rPr>
              <a:t>                  </a:t>
            </a:r>
            <a:r>
              <a:rPr lang="en" altLang="zh-CN" sz="1800" b="0" dirty="0">
                <a:solidFill>
                  <a:srgbClr val="0000FF"/>
                </a:solidFill>
                <a:latin typeface="Menlo" panose="020B0609030804020204" pitchFamily="49" charset="0"/>
              </a:rPr>
              <a:t>a   +   b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FEF4B5-9D87-7215-9402-D17610FF143D}"/>
              </a:ext>
            </a:extLst>
          </p:cNvPr>
          <p:cNvSpPr txBox="1"/>
          <p:nvPr/>
        </p:nvSpPr>
        <p:spPr>
          <a:xfrm>
            <a:off x="353379" y="1872734"/>
            <a:ext cx="5561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First operand, Operator, Second operand</a:t>
            </a:r>
            <a:endParaRPr kumimoji="1" lang="zh-CN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912B039C-BD31-1479-EC29-A8497734B6AF}"/>
              </a:ext>
            </a:extLst>
          </p:cNvPr>
          <p:cNvCxnSpPr/>
          <p:nvPr/>
        </p:nvCxnSpPr>
        <p:spPr>
          <a:xfrm flipH="1" flipV="1">
            <a:off x="1371600" y="2242066"/>
            <a:ext cx="685800" cy="3487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3461158-ABBF-F93B-002A-2B9634231FEE}"/>
              </a:ext>
            </a:extLst>
          </p:cNvPr>
          <p:cNvCxnSpPr>
            <a:cxnSpLocks/>
          </p:cNvCxnSpPr>
          <p:nvPr/>
        </p:nvCxnSpPr>
        <p:spPr>
          <a:xfrm flipV="1">
            <a:off x="2819400" y="2242066"/>
            <a:ext cx="0" cy="3487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6D519EF-C53A-0B4C-9FEF-53854AD7C27F}"/>
              </a:ext>
            </a:extLst>
          </p:cNvPr>
          <p:cNvCxnSpPr>
            <a:cxnSpLocks/>
          </p:cNvCxnSpPr>
          <p:nvPr/>
        </p:nvCxnSpPr>
        <p:spPr>
          <a:xfrm flipV="1">
            <a:off x="3581400" y="2242066"/>
            <a:ext cx="838200" cy="3487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489B8C3-33C0-EB1E-5373-8CA153C9EFEF}"/>
              </a:ext>
            </a:extLst>
          </p:cNvPr>
          <p:cNvSpPr txBox="1"/>
          <p:nvPr/>
        </p:nvSpPr>
        <p:spPr>
          <a:xfrm>
            <a:off x="5715000" y="2879100"/>
            <a:ext cx="571500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 Point {</a:t>
            </a:r>
          </a:p>
          <a:p>
            <a:pPr>
              <a:lnSpc>
                <a:spcPts val="1350"/>
              </a:lnSpc>
              <a:buNone/>
            </a:pPr>
            <a:endParaRPr lang="en" altLang="zh-CN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double x{};</a:t>
            </a:r>
          </a:p>
          <a:p>
            <a:pPr lvl="1">
              <a:lnSpc>
                <a:spcPts val="1350"/>
              </a:lnSpc>
            </a:pP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double y{};</a:t>
            </a:r>
          </a:p>
          <a:p>
            <a:pPr lvl="1">
              <a:lnSpc>
                <a:spcPts val="1350"/>
              </a:lnSpc>
            </a:pPr>
            <a:endParaRPr lang="en" altLang="zh-CN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</a:b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Point operator+(Point 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a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, const Point&amp; 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b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endParaRPr lang="en" altLang="zh-CN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a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.x +=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b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.x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</a:pP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a.y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 += </a:t>
            </a:r>
            <a:r>
              <a:rPr lang="en" altLang="zh-CN" b="0" dirty="0" err="1">
                <a:solidFill>
                  <a:srgbClr val="0000FF"/>
                </a:solidFill>
                <a:latin typeface="Menlo" panose="020B0609030804020204" pitchFamily="49" charset="0"/>
              </a:rPr>
              <a:t>b.y</a:t>
            </a:r>
            <a:endParaRPr lang="en" altLang="zh-CN" b="0" dirty="0">
              <a:solidFill>
                <a:srgbClr val="0000FF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 </a:t>
            </a:r>
            <a:r>
              <a:rPr lang="en" altLang="zh-CN" b="0" dirty="0">
                <a:solidFill>
                  <a:srgbClr val="0000FF"/>
                </a:solidFill>
                <a:latin typeface="Menlo" panose="020B0609030804020204" pitchFamily="49" charset="0"/>
              </a:rPr>
              <a:t>a</a:t>
            </a: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9060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27F9-89F4-08DD-2FA0-63C55252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59281E7-95BF-1DDC-1888-814CF34275DA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27562"/>
            <a:ext cx="113538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Example</a:t>
            </a:r>
            <a:r>
              <a:rPr lang="zh-CN" alt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altLang="zh-CN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of</a:t>
            </a:r>
            <a:r>
              <a:rPr lang="zh-CN" alt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</a:t>
            </a:r>
            <a:r>
              <a:rPr lang="en-US" altLang="zh-CN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the binary o</a:t>
            </a:r>
            <a:r>
              <a:rPr 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perators and operands</a:t>
            </a:r>
            <a:endParaRPr lang="en-US" b="0" dirty="0">
              <a:solidFill>
                <a:srgbClr val="FF0000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81A660C-4609-24FC-34BF-DFD01AFB7FF3}"/>
              </a:ext>
            </a:extLst>
          </p:cNvPr>
          <p:cNvGrpSpPr/>
          <p:nvPr/>
        </p:nvGrpSpPr>
        <p:grpSpPr>
          <a:xfrm>
            <a:off x="1029201" y="1813519"/>
            <a:ext cx="1615055" cy="1012289"/>
            <a:chOff x="2971800" y="2100645"/>
            <a:chExt cx="4631856" cy="101228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9BCCAA7-5C21-F1FD-33C2-02255F708830}"/>
                </a:ext>
              </a:extLst>
            </p:cNvPr>
            <p:cNvSpPr txBox="1"/>
            <p:nvPr/>
          </p:nvSpPr>
          <p:spPr>
            <a:xfrm>
              <a:off x="5346751" y="2644088"/>
              <a:ext cx="2103600" cy="4688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350"/>
                </a:lnSpc>
                <a:buNone/>
              </a:pPr>
              <a:r>
                <a:rPr lang="en" altLang="zh-CN" sz="2000" b="0" dirty="0">
                  <a:solidFill>
                    <a:srgbClr val="BBBEBF"/>
                  </a:solidFill>
                  <a:latin typeface="Menlo" panose="020B0609030804020204" pitchFamily="49" charset="0"/>
                </a:rPr>
                <a:t>                      </a:t>
              </a:r>
              <a:r>
                <a:rPr lang="en" altLang="zh-CN" sz="2000" b="0" dirty="0">
                  <a:solidFill>
                    <a:srgbClr val="0000FF"/>
                  </a:solidFill>
                  <a:latin typeface="Menlo" panose="020B0609030804020204" pitchFamily="49" charset="0"/>
                </a:rPr>
                <a:t>a++</a:t>
              </a:r>
              <a:endParaRPr lang="en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328DF2D-60FA-AC7A-A68C-81CED7C56BC3}"/>
                </a:ext>
              </a:extLst>
            </p:cNvPr>
            <p:cNvSpPr txBox="1"/>
            <p:nvPr/>
          </p:nvSpPr>
          <p:spPr>
            <a:xfrm>
              <a:off x="2971800" y="2100645"/>
              <a:ext cx="2528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operator, operand</a:t>
              </a:r>
              <a:endParaRPr kumimoji="1"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F84AE56A-CB53-D303-1BA9-C7970CDB5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4202" y="2429763"/>
              <a:ext cx="1619454" cy="405468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189341E0-B948-056A-AB14-BBED1CC42D23}"/>
                </a:ext>
              </a:extLst>
            </p:cNvPr>
            <p:cNvCxnSpPr>
              <a:cxnSpLocks/>
              <a:endCxn id="2" idx="3"/>
            </p:cNvCxnSpPr>
            <p:nvPr/>
          </p:nvCxnSpPr>
          <p:spPr>
            <a:xfrm flipH="1" flipV="1">
              <a:off x="5500056" y="2285311"/>
              <a:ext cx="1293873" cy="54992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CEEE73D-3E0B-144F-1C48-0BAA4B95D5B8}"/>
              </a:ext>
            </a:extLst>
          </p:cNvPr>
          <p:cNvSpPr txBox="1"/>
          <p:nvPr/>
        </p:nvSpPr>
        <p:spPr>
          <a:xfrm>
            <a:off x="5029200" y="1447800"/>
            <a:ext cx="6099242" cy="3743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 Point {</a:t>
            </a:r>
          </a:p>
          <a:p>
            <a:pPr lvl="1">
              <a:lnSpc>
                <a:spcPct val="150000"/>
              </a:lnSpc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double x;</a:t>
            </a:r>
          </a:p>
          <a:p>
            <a:pPr lvl="1">
              <a:lnSpc>
                <a:spcPct val="150000"/>
              </a:lnSpc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double y;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};</a:t>
            </a:r>
            <a:endParaRPr lang="en" altLang="zh-CN" sz="1600" b="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</a:b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Point operator++(Point&amp; </a:t>
            </a:r>
            <a:r>
              <a:rPr lang="en" altLang="zh-CN" sz="1600" b="0" dirty="0">
                <a:solidFill>
                  <a:srgbClr val="0000FF"/>
                </a:solidFill>
                <a:latin typeface="Menlo" panose="020B0609030804020204" pitchFamily="49" charset="0"/>
              </a:rPr>
              <a:t>b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1">
              <a:lnSpc>
                <a:spcPct val="150000"/>
              </a:lnSpc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b.x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b.y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600" b="0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 b;</a:t>
            </a:r>
          </a:p>
          <a:p>
            <a:pPr>
              <a:lnSpc>
                <a:spcPct val="150000"/>
              </a:lnSpc>
            </a:pPr>
            <a:r>
              <a:rPr lang="en" altLang="zh-CN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6852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BD8D49A-C32E-05EB-51EA-79928A93EBD7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304800"/>
            <a:ext cx="110490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b="0" dirty="0">
                <a:solidFill>
                  <a:srgbClr val="FF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Implementing Operators using </a:t>
            </a:r>
            <a:r>
              <a:rPr lang="en-US" sz="4000" b="0" dirty="0">
                <a:solidFill>
                  <a:srgbClr val="0000FF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Codex </a:t>
            </a:r>
            <a:endParaRPr lang="en-US" b="0" dirty="0">
              <a:solidFill>
                <a:srgbClr val="0000FF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2CC084-C825-9961-B7CE-4F15F16471A3}"/>
              </a:ext>
            </a:extLst>
          </p:cNvPr>
          <p:cNvSpPr txBox="1"/>
          <p:nvPr/>
        </p:nvSpPr>
        <p:spPr>
          <a:xfrm>
            <a:off x="304800" y="2286000"/>
            <a:ext cx="5472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statement for Codex: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57F4AC-2F66-8C5A-C2A0-C666363ED62F}"/>
              </a:ext>
            </a:extLst>
          </p:cNvPr>
          <p:cNvSpPr txBox="1"/>
          <p:nvPr/>
        </p:nvSpPr>
        <p:spPr>
          <a:xfrm>
            <a:off x="381000" y="3124200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implement the following operators using free functions in </a:t>
            </a:r>
            <a:r>
              <a:rPr lang="en" altLang="zh-CN" sz="16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c++</a:t>
            </a:r>
            <a:r>
              <a:rPr lang="en" altLang="zh-CN" sz="16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for a data type struct point(int, int y):</a:t>
            </a:r>
          </a:p>
          <a:p>
            <a:endParaRPr lang="en" altLang="zh-CN" sz="16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r>
              <a:rPr lang="en" altLang="zh-CN" sz="16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+,-,*,/,bool, ++. --, =, !=, +=.-=, *=. /=, &lt;&lt; </a:t>
            </a:r>
          </a:p>
          <a:p>
            <a:endParaRPr lang="en" altLang="zh-CN" sz="16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r>
              <a:rPr lang="en" altLang="zh-CN" sz="16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include a header file, a </a:t>
            </a:r>
            <a:r>
              <a:rPr lang="en" altLang="zh-CN" sz="16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cpp</a:t>
            </a:r>
            <a:r>
              <a:rPr lang="en" altLang="zh-CN" sz="1600" b="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file, a demo, save all files in the current workspace. </a:t>
            </a:r>
            <a:endParaRPr lang="zh-CN" altLang="en-US" sz="16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2304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C8113F5-7EAA-9EF4-99AD-87FE22BCFDD6}"/>
              </a:ext>
            </a:extLst>
          </p:cNvPr>
          <p:cNvSpPr txBox="1"/>
          <p:nvPr/>
        </p:nvSpPr>
        <p:spPr>
          <a:xfrm>
            <a:off x="3505200" y="2971800"/>
            <a:ext cx="295382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point_free.h</a:t>
            </a:r>
            <a:endParaRPr kumimoji="1" lang="en-US" altLang="zh-CN" sz="32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r>
              <a:rPr kumimoji="1" lang="en-US" altLang="zh-CN" sz="32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point_free.cpp</a:t>
            </a:r>
            <a:endParaRPr kumimoji="1" lang="en-US" altLang="zh-CN" sz="32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r>
              <a:rPr kumimoji="1" lang="en-US" altLang="zh-CN" sz="3200" b="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demo_free.cpp</a:t>
            </a:r>
            <a:endParaRPr kumimoji="1" lang="en-US" altLang="zh-CN" sz="32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endParaRPr kumimoji="1" lang="zh-CN" altLang="en-US" sz="3200" b="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9acd03c-06e8-4616-84e8-0440bcee5628"/>
  <p:tag name="COMMONDATA" val="eyJoZGlkIjoiMzEwNTM5NzYwMDRjMzkwZTVkZjY2ODkwMGIxNGU0OTUifQ=="/>
</p:tagLst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3920</Words>
  <Application>Microsoft Macintosh PowerPoint</Application>
  <PresentationFormat>宽屏</PresentationFormat>
  <Paragraphs>427</Paragraphs>
  <Slides>35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Microsoft YaHei</vt:lpstr>
      <vt:lpstr>Microsoft YaHei Light</vt:lpstr>
      <vt:lpstr>Arial</vt:lpstr>
      <vt:lpstr>Calibri</vt:lpstr>
      <vt:lpstr>Calibri Light</vt:lpstr>
      <vt:lpstr>Courier New</vt:lpstr>
      <vt:lpstr>Helvetica Neue</vt:lpstr>
      <vt:lpstr>Lucida Grande</vt:lpstr>
      <vt:lpstr>Menlo</vt:lpstr>
      <vt:lpstr>Times New Roman</vt:lpstr>
      <vt:lpstr>Office 2013 - 2022 主题</vt:lpstr>
      <vt:lpstr>1_Office 2013 - 2022 主题</vt:lpstr>
      <vt:lpstr>2_Office 2013 - 2022 主题</vt:lpstr>
      <vt:lpstr>3_Office 2013 - 2022 主题</vt:lpstr>
      <vt:lpstr>4_Office 2013 - 2022 主题</vt:lpstr>
      <vt:lpstr>5_Office 2013 - 2022 主题</vt:lpstr>
      <vt:lpstr>CSC3002 C/C++ Programming    Functions and Libraries</vt:lpstr>
      <vt:lpstr>Functions and Libraries</vt:lpstr>
      <vt:lpstr>The Idea of a Function</vt:lpstr>
      <vt:lpstr>Function in Programming</vt:lpstr>
      <vt:lpstr>Parameters vs. Arguments</vt:lpstr>
      <vt:lpstr>The Advantages of Using Functions</vt:lpstr>
      <vt:lpstr>Defining Functions in C++</vt:lpstr>
      <vt:lpstr>Defining Functions in C++</vt:lpstr>
      <vt:lpstr>Function Prototypes</vt:lpstr>
      <vt:lpstr>Functions and Algorithms</vt:lpstr>
      <vt:lpstr>The Brute-Force Approach  </vt:lpstr>
      <vt:lpstr>Euclid’s Algorithm  </vt:lpstr>
      <vt:lpstr>How Euclid’s Algorithm Works  </vt:lpstr>
      <vt:lpstr>An Illustration of Euclid’s Algorithm</vt:lpstr>
      <vt:lpstr>The pre- and post-incremental operators</vt:lpstr>
      <vt:lpstr>C++ Enhancements to Functions</vt:lpstr>
      <vt:lpstr>Exercise: function overloading and signature</vt:lpstr>
      <vt:lpstr>C++ Enhancements to Functions</vt:lpstr>
      <vt:lpstr>C++ Enhancements to Functions</vt:lpstr>
      <vt:lpstr>Exercise</vt:lpstr>
      <vt:lpstr>Combinations and Factorials  </vt:lpstr>
      <vt:lpstr>Computing Factorials</vt:lpstr>
      <vt:lpstr>The Mechanics of Calling a Function</vt:lpstr>
      <vt:lpstr>Exercise</vt:lpstr>
      <vt:lpstr>Question</vt:lpstr>
      <vt:lpstr>Reference variables in C++</vt:lpstr>
      <vt:lpstr>Call by Reference Example</vt:lpstr>
      <vt:lpstr>Reference Parameters</vt:lpstr>
      <vt:lpstr>Reference Parameters</vt:lpstr>
      <vt:lpstr>Reference in C++</vt:lpstr>
      <vt:lpstr>Operators and Operands</vt:lpstr>
      <vt:lpstr>PowerPoint 演示文稿</vt:lpstr>
      <vt:lpstr>PowerPoint 演示文稿</vt:lpstr>
      <vt:lpstr>PowerPoint 演示文稿</vt:lpstr>
      <vt:lpstr>PowerPoint 演示文稿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and Libraries</dc:title>
  <dc:creator>You, Jane [COMP]</dc:creator>
  <cp:lastModifiedBy>ChenRuizhi</cp:lastModifiedBy>
  <cp:revision>586</cp:revision>
  <dcterms:created xsi:type="dcterms:W3CDTF">2014-07-01T16:34:00Z</dcterms:created>
  <dcterms:modified xsi:type="dcterms:W3CDTF">2026-09-09T01:19:08Z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88B41100C3D14DB88E64CF3D18708CD1</vt:lpwstr>
  </property>
  <property fmtid="{D5CDD505-2E9C-101B-9397-08002B2CF9AE}" pid="3" name="KSOProductBuildVer">
    <vt:lpwstr>2052-11.1.0.12375</vt:lpwstr>
  </property>
</Properties>
</file>